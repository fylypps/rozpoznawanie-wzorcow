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6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8" autoAdjust="0"/>
    <p:restoredTop sz="85522" autoAdjust="0"/>
  </p:normalViewPr>
  <p:slideViewPr>
    <p:cSldViewPr snapToGrid="0">
      <p:cViewPr varScale="1">
        <p:scale>
          <a:sx n="81" d="100"/>
          <a:sy n="81" d="100"/>
        </p:scale>
        <p:origin x="471" y="42"/>
      </p:cViewPr>
      <p:guideLst/>
    </p:cSldViewPr>
  </p:slideViewPr>
  <p:outlineViewPr>
    <p:cViewPr>
      <p:scale>
        <a:sx n="33" d="100"/>
        <a:sy n="33" d="100"/>
      </p:scale>
      <p:origin x="0" y="-42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1" d="100"/>
          <a:sy n="121" d="100"/>
        </p:scale>
        <p:origin x="3354" y="9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6" Type="http://schemas.openxmlformats.org/officeDocument/2006/relationships/slide" Target="slides/slide1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C80C69-E2FB-44D7-8358-0A30A9D0DDA7}" type="datetimeFigureOut">
              <a:rPr lang="pl-PL" smtClean="0"/>
              <a:t>16.01.2026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05AD6D-ABC3-43C3-8673-B926A00C8DB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4888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 POWIEDZIEĆ (30 s): Temat 06 z obszaru „metodologia eksperymentów”. Publikacja: Kohavi, IJCAI 1995 — jedna z najczęściej cytowanych prac o walidacji krzyżowej. Pytanie projektu: jak liczba foldów k wpływa na obciążenie i zmienność błędu szacowanego przez CV i co zmienia stratyfikacja przy klasie rzadkiej. Plan prezentacji: publikacja → pytanie i hipotezy → teoria z przykładem ręcznym → plan badania → wykonalność.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 POWIEDZIEĆ (1,5 min): Kohavi porównał metody szacowania trafności klasyfikatora na małej próbce: holdout, k-krotną walidację krzyżową dla różnych k, leave-one-out i bootstrap. Zrobił to na dwóch różnych algorytmach (drzewo C4.5 i Naive-Bayes) i siedmiu zbiorach UCI, po 50 powtórzeń; „prawdziwą” trafność liczył holdoutem na reszcie zbioru. Wyniki: CV zaniża trafność (jest pesymistyczna), najbardziej dla 2 i 5 foldów; przy 10–20 foldach obciążenie prawie znika. Wariancja jest największa przy 2 foldach. Stratyfikacja zmniejsza i obciążenie, i wariancję. Bootstrap ma małą wariancję, ale na niektórych zbiorach ogromne obciążenie. Zalecenie: 10-krotna stratyfikowana CV.</a:t>
            </a:r>
          </a:p>
          <a:p>
            <a:r>
              <a:t>FRAGMENT DO ODTWORZENIA: Rysunek 1 (obciążenie CV w funkcji k) i Rysunek 3 (odchylenie standardowe w funkcji k) — dla naszych dwóch modeli i k = 2, 5, 10. Bootstrapu, leave-k-out i k = 20 nie odtwarzamy — karta tematu tego nie wymaga.</a:t>
            </a:r>
          </a:p>
          <a:p>
            <a:r>
              <a:t>ADAPTACJA (powiedzieć wprost): dane i modele są inne — narzuca je karta tematu. Zachowujemy cel i schemat badania: te same foldy dla obu modeli, wiele niezależnych powtórzeń, punkt odniesienia niezależny od CV.</a:t>
            </a:r>
          </a:p>
          <a:p>
            <a:r>
              <a:t>MOŻLIWE PYTANIE: „czym różni się Wasz punkt odniesienia od Kohaviego?” — on nie znał prawdy, więc szacował ją holdoutem na reszcie zbioru; my generujemy dane, więc mamy duży niezależny test 10 000 obiektów.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 POWIEDZIEĆ (1 min): Przeczytać pytanie z karty tematu. Potem hipotezy z uzasadnieniem:</a:t>
            </a:r>
          </a:p>
          <a:p>
            <a:r>
              <a:t>H1 — model w foldzie uczy się na n(k−1)/k obiektach, czyli przy k = 2 tylko na 100 z 200. Mniej danych = większy błąd (krzywa uczenia), więc CV zawyża błąd; przy k = 10 trening ma 180 obiektów i różnica prawie znika.</a:t>
            </a:r>
          </a:p>
          <a:p>
            <a:r>
              <a:t>H1′ — przy k = 2 model jest „chwiejny”: inne 100 obiektów daje wyraźnie inny model, więc estymata skacze.</a:t>
            </a:r>
          </a:p>
          <a:p>
            <a:r>
              <a:t>H1″ — Kohavi pokazuje (Propozycja 1), że dla modelu stabilnego CV jest nieobciążona i jej wariancja nie zależy od k. GaussianNB uczy się tylko średnich i wariancji cech — jest stabilny; drzewo CART bez przycinania zmienia kształt przy każdej zmianie danych — jest niestabilne. Więc efekty powinny być widoczne głównie dla CART.</a:t>
            </a:r>
          </a:p>
          <a:p>
            <a:r>
              <a:t>H2 — stratyfikacja nie zmienia rozmiaru treningu (ta sama krzywa uczenia → obciążenie podobne), ale usuwa losowe wahania proporcji klas między foldami → mniejsza zmienność; i z definicji żaden fold nie zostaje bez klasy rzadkiej.</a:t>
            </a:r>
          </a:p>
          <a:p>
            <a:r>
              <a:t>PODKREŚLIĆ: wynik negatywny nie obniża oceny (kontrakt §6) — hipotezy to przewidywania, nie cel.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 POWIEDZIEĆ (1,5 min): Generalizacja: błąd prawdziwy e(C) to prawdopodobieństwo pomyłki na NOWYM obiekcie z tego samego rozkładu. Nie da się go policzyć dokładnie — w praktyce nie mamy nowych danych. My mamy generator, więc tworzymy duży niezależny test T (10 000 obiektów) i błąd na nim, e_test, traktujemy jako prawdę (jego własna niepewność to ok. 0,4 punktu procentowego).</a:t>
            </a:r>
          </a:p>
          <a:p>
            <a:r>
              <a:t>Obciążenie estymatora = wartość oczekiwana różnicy między estymatą ê_CV a prawdą e_test; E[·] to średnia po nieskończenie wielu powtórzeniach — my przybliżamy ją średnią z 30. Dodatnie obciążenie = CV zawyża błąd = pesymizm (Kohavi mówi o zaniżonej trafności — to samo). Zmienność = odchylenie standardowe tej różnicy między powtórzeniami, czyli „jak bardzo wynik skacze”. Dokładnie tak definiuje to karta tematu.</a:t>
            </a:r>
          </a:p>
          <a:p>
            <a:r>
              <a:t>Trening/walidacja: w CV model widzi tylko część danych — przy k = 2 połowę. Mniej danych → większy błąd → ê_CV mierzy błąd gorszego modelu niż ten na całych 200 → pesymizm. Im większe k, tym większy trening w pojedynczym dopasowaniu i tym mniejszy pesymizm.</a:t>
            </a:r>
          </a:p>
          <a:p>
            <a:r>
              <a:t>Powtórzenie badania to CAŁY niezależny zbiór D_r (nie fold) — bo foldy nie są niezależne (następny slajd).</a:t>
            </a:r>
          </a:p>
          <a:p>
            <a:r>
              <a:t>PYTANIE KONTROLNE 2: „czy niższa wariancja oznacza mniejsze obciążenie?” — NIE, to dwie osobne rzeczy (strzelec: można strzelać powtarzalnie i zawsze obok). Przykład Kohaviego: bootstrap .632 ma małą wariancję i obciążenie do 9,8 p.p.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 POWIEDZIEĆ (1,5 min): Przeczytać wzór symbol po symbolu. Zbiór D dzielimy losowo na k foldów. Dla każdego foldu j uczymy model na pozostałych k−1 foldach (C_−j, „minus j” = bez j-tego) i sprawdzamy na odłożonym D_j: m_j pomyłek na |D_j| obiektów daje e_j. Estymata ê_CV to zwykła średnia z k błędów foldów. Daszek = oszacowanie, nie prawda. Każdy obiekt jest dokładnie raz w foldzie testowym, więc przy równych foldach średnia = (wszystkie pomyłki)/n — to wzór (4) Kohaviego; u nas 200 dzieli się przez 2, 5 i 10, więc obie wersje są identyczne.</a:t>
            </a:r>
          </a:p>
          <a:p>
            <a:r>
              <a:t>Koszt: k dopasowań modelu na jedno ê_CV.</a:t>
            </a:r>
          </a:p>
          <a:p>
            <a:r>
              <a:t>PYTANIE KONTROLNE 1: „dlaczego 10 foldów nie daje 10 niezależnych pomiarów?” — zbiory uczące sąsiednich foldów pokrywają się w 8 z 9 (ogólnie (k−2)/(k−1)); to prawie te same modele, więc e_j są skorelowane. Odchylenie między foldami podzielone przez pierwiastek z k zaniża niepewność. Skrajny przykład Kohaviego: iris + model „zawsze klasa większościowa” + leave-one-out → każdy fold 0 % trafności, rozrzut 0, a prawda 33 %. Dlatego jednostką powtórzenia jest cały niezależny zbiór D_r.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 POWIEDZIEĆ (1,5 min) — POLICZYĆ NA GŁOS: zbiór D_1 z naszego generatora, 200 obiektów, GaussianNB, 5 foldów po 40. Pomyłki na foldach: 7, 3, 7, 8, 4. Błędy: 7/40 = 0,175; 3/40 = 0,075; 7/40 = 0,175; 8/40 = 0,200; 4/40 = 0,100. Suma 0,725, podzielić przez 5: ê_CV = 0,145. Kontrola drugim sposobem: 29 pomyłek / 200 obiektów = 0,145 — to samo, bo foldy są równe.</a:t>
            </a:r>
          </a:p>
          <a:p>
            <a:r>
              <a:t>Punkt odniesienia: ten sam GaussianNB nauczony na całych 200 obiektach, sprawdzony na teście T: 1754 pomyłki na 10 000 → e_test = 0,1754. Różnica = 0,145 − 0,1754 = −0,030: w tym konkretnym zbiorze CV ZANIŻYŁA błąd o 3 p.p. — czyli optymizm, wbrew hipotezie. To nie przeczy H1: obciążenie to ŚREDNIA z wielu zbiorów, a pojedynczy błąd foldu z 40 obiektów ma rozrzut ok. 6 p.p. Dopiero 30 różnic (po jednej na niezależny zbiór) da średnią (obciążenie) i odchylenie standardowe (zmienność).</a:t>
            </a:r>
          </a:p>
          <a:p>
            <a:r>
              <a:t>JEŚLI ZAPYTAJĄ O SD: na 3 liczbach, np. różnice 0,01; 0,03; 0,05 → średnia 0,03, odchylenia −0,02/0/+0,02, kwadraty 0,0004/0/0,0004, suma 0,0008 / (3−1) = 0,0004, pierwiastek 0,02.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 POWIEDZIEĆ (1,5 min): Karta tematu każe ustalić generator, liczbę powtórzeń i ocenę referencyjną.</a:t>
            </a:r>
          </a:p>
          <a:p>
            <a:r>
              <a:t>GENERATOR: każdy obiekt ma 10 cech i klasę y. Najpierw losujemy klasę (Bernoulli: π₁ = 0,5 w odtworzeniu, 0,1 w eksperymencie własnym), potem 10 cech z rozkładu normalnego o środku zależnym od klasy. Środki μ₀ i μ₁ leżą symetrycznie w odległości δ = 2 wzdłuż kierunku u: pierwsze 5 cech różni klasy (informacyjne), ostatnie 5 to czysty szum. Rysunek: po lewej 200 wylosowanych punktów na dwóch cechach — klasy się mieszają; po prawej oba „dzwony” po rzucie na kierunek u. Zacieniowane pola = błąd Bayesa, czyli błąd najlepszego możliwego klasyfikatora: Φ(−δ/2) = Φ(−1) = 15,9 %. Przy klasie rzadkiej granica przesuwa się w stronę klasy rzadkiej (próg ln 9/δ ≈ 1,10) i błąd Bayesa to 7,0 % — ale „zawsze klasa 0” ma 10 %, dlatego w eksperymencie własnym mierzymy też czułość.</a:t>
            </a:r>
          </a:p>
          <a:p>
            <a:r>
              <a:t>DLACZEGO TAKI: znamy błąd Bayesa, więc wiemy, jak daleko od ideału są modele. GaussianNB zakłada dokładnie ten rozkład (niezależne cechy normalne) → stabilny; CART tnie równolegle do osi, a granica jest ukośna → musi ją schodkować, przeucza się → niestabilny. To odpowiednik pary Naive-Bayes / C4.5 u Kohaviego.</a:t>
            </a:r>
          </a:p>
          <a:p>
            <a:r>
              <a:t>POWTÓRZENIA: 30 niezależnych zbiorów po 200 (z karty), ziarno 1000 + r. OCENA REFERENCYJNA: jeden test T, 10 000 obiektów, osobne ziarno; służy WYŁĄCZNIE do oceny — nic według niego nie dobieramy (pytanie kontrolne 3). Parametry generatora ustaliliśmy z teorii (błąd Bayesa ok. 16 %), zanim cokolwiek policzyliśmy.</a:t>
            </a:r>
          </a:p>
          <a:p>
            <a:r>
              <a:t>ZMIANA PARAMETRU (gdyby pytali): większe δ → mniejszy błąd Bayesa, płaska krzywa uczenia, mniejszy pesymizm; więcej cech szumowych → większy błąd i pesymizm, zwłaszcza dla CART.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 POWIEDZIEĆ (1 min) — przejść po strzałkach: generator tworzy 30 niezależnych zbiorów D_r po 200 obiektów (ziarno 1000 + r) i jeden test T z osobnego ziarna. Dla każdego zbioru i każdego z dwóch modeli: górna ścieżka — CV z k = 2, 5, 10 na tym samym zbiorze i z tymi samymi podziałami dla obu modeli (jak u Kohaviego: ziarno podziału zależy tylko od r) → trzy estymaty ê_CV; dolna ścieżka — model na całym D_r sprawdzony na T → e_test. Różnica Δ = ê_CV − e_test; dla każdego k i modelu mamy 30 niezależnych Δ → średnia to obciążenie, odchylenie standardowe to zmienność (dokładnie wielkości z karty tematu).</a:t>
            </a:r>
          </a:p>
          <a:p>
            <a:r>
              <a:t>Wszystko utrwalone w cvbias/protocol.py przed badaniem: rozmiary, ziarna, k, modele, metryka — karta: „przed końcowym badaniem utrwal podziały danych, parametry, metryki i losowania”.</a:t>
            </a:r>
          </a:p>
          <a:p>
            <a:r>
              <a:t>Koszt: na zbiór i model 2 + 5 + 10 dopasowań w CV + 1 na całości = 18; razem 30 · 2 · 18 = 1080.</a:t>
            </a:r>
          </a:p>
          <a:p>
            <a:r>
              <a:t>GDZIE W KODZIE (gdyby prosili): experiment.run_series — generate(T) raz przed pętlą; pętla po r; fit_and_predict na całym D_r → e_test; make_splitter(…, seeds['split'] + r) → te same podziały; cross_validate → błędy foldów.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 POWIEDZIEĆ (1 min): Karta: udział klasy rzadkiej ok. 10 %, porównanie zwykłej i stratyfikowanej 5-foldowej CV NA TYCH SAMYCH PRÓBKACH. Stratyfikacja = foldy mają proporcje klas takie jak cały zbiór (StratifiedKFold losuje osobno w każdej klasie). Bierzemy ten sam zbiór D_r i dzielimy go dwoma sposobami z tym samym ziarnem — różni się tylko przydział do foldów.</a:t>
            </a:r>
          </a:p>
          <a:p>
            <a:r>
              <a:t>Tabela z próby: w D_1 jest 24 obiekty klasy rzadkiej; zwykły KFold rozrzucił je 2/5/9/6/2, stratyfikowany 4/5/5/5/5. W zbiorze D_3 (14 rzadkich) zwykły podział dał fold bez ani jednego obiektu klasy rzadkiej — wtedy czułość to 0/0, nieokreślona. Karta każe takie przypadki zapisywać: w CSV jest flaga i powód; nie wstawiamy zera, nie pomijamy po cichu, a liczba takich foldów jest jedną z miar.</a:t>
            </a:r>
          </a:p>
          <a:p>
            <a:r>
              <a:t>Dlaczego czułość: przy 10 % klasy rzadkiej model „zawsze 0” ma tylko 10 % błędu — odsetek pomyłek nie pokazuje, czy klasa rzadka jest w ogóle wykrywana.</a:t>
            </a:r>
          </a:p>
          <a:p>
            <a:r>
              <a:t>Oczekiwanie (H2): obciążenie podobne (ten sam rozmiar treningu w foldzie), zmienność mniejsza (znika losowość proporcji klas między foldami) — zgodne z obserwacją Kohaviego, że stratyfikacja jest „jednolicie lepsza”.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 POWIEDZIEĆ (1 min): Kontrakt wymaga na etapie 1 „małej próby uruchomienia”. Uruchomiliśmy cały potok na 3 zbiorach zamiast 30: 174 dopasowania w 0,16 s — pełna seria to 1080 (odtworzenie) + 660 (eksperyment własny) + 180 (etap 3: modele na 100/160/180 obiektach, żeby oddzielić wpływ rozmiaru treningu od losowego podziału) = 1920 ≤ 2500. Obliczenia nie są ryzykiem; ryzykiem jest poprawność protokołu.</a:t>
            </a:r>
          </a:p>
          <a:p>
            <a:r>
              <a:t>Z próby NIE wyciągamy wniosków — służy do sprawdzenia kodu i do przykładu ręcznego.</a:t>
            </a:r>
          </a:p>
          <a:p>
            <a:r>
              <a:t>Co zapisujemy (karta: „zachowaj wyniki wszystkich zaplanowanych uruchomień, błędy oraz powody brakujących wyników”): CSV per fold z błędem i składem klas, podsumowania per zbiór × model × k, meta.json z wersjami, ziarnami, liczbą dopasowań i czasem.</a:t>
            </a:r>
          </a:p>
          <a:p>
            <a:r>
              <a:t>Kontrola poprawności — cztery zasady z karty: (1) duży test wyłącznie do oceny estymatora; (2) te same próbki dla wszystkich wariantów CV; (3) wszystko utrwalone przed badaniem w protocol.py; (4) brak przecieku — model w foldzie uczy się tylko na pozostałych foldach, T ma osobne ziarno, nie ma doboru hiperparametrów ani skalowania, więc nie ma kroku, który mógłby „podejrzeć” dane testowe.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 POWIEDZIEĆ (1 min): Ograniczenia naszego planu: (1) dane syntetyczne o rozkładzie dokładnie zgodnym z założeniami GaussianNB — wyniki dla NB mogą być „zbyt ładne”; (2) jeden wspólny test T — wartości e_test z różnych zbiorów dzielą ten sam szum testu (ok. 0,4 p.p., pomijalny, ale odnotowany); (3) 30 powtórzeń → błąd standardowy obciążenia ≈ sd/√30, przy sd 3 p.p. to ≈ 0,5 p.p., więc obciążenie poniżej 1 p.p. (prawdopodobne dla NB) może być nieodróżnialne od zera — to też jest wynik, nie porażka.</a:t>
            </a:r>
          </a:p>
          <a:p>
            <a:r>
              <a:t>Krytycznie o publikacji: „prawdziwa” trafność Kohaviego to też tylko estymata z holdoutu na reszcie zbioru; 50 próbek z tego samego skończonego zbioru nie jest w pełni niezależnych; jego Propozycja 1 (wariancja CV niezależna od k) wymaga stabilnego modelu, a drzewa tego nie spełniają — nasz generator daje prawdziwie niezależne zbiory i prawdziwy, duży test.</a:t>
            </a:r>
          </a:p>
          <a:p>
            <a:r>
              <a:t>Źródła: publikacja, dokumentacja scikit-learn, karta tematu i kontrakt. Praca autora vs nasz wkład: od Kohaviego pytanie, definicje i schemat porównania; generator, protokół, kod i eksperyment własny są nasze.</a:t>
            </a:r>
          </a:p>
          <a:p>
            <a:r>
              <a:t>Informacja o AI (załącznik 2A) jest osobnym PDF-em dołączonym do zadania w Moodle.</a:t>
            </a:r>
          </a:p>
          <a:p>
            <a:r>
              <a:t>NA PYTANIA — trzy pytania kontrolne z karty: (1) 10 foldów ≠ 10 niezależnych pomiarów, bo zbiory uczące pokrywają się w 8/9; (2) niższa wariancja ≠ mniejsze obciążenie (bootstrap .632: mała wariancja, obciążenie do 9,8 p.p.); (3) według dużego testu nie wolno dobierać parametrów modeli, generatora ani wariantu CV.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451621F-BC41-4363-B3E9-913F0F26D7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535E59BB-D807-48A1-830E-3B2CFAA1DE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9C1353AD-D099-47DE-BC9B-6B1DC60A9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CDE36-CF88-4A9A-85A2-AB7FB49A9E1B}" type="datetimeFigureOut">
              <a:rPr lang="pl-PL" smtClean="0"/>
              <a:t>16.01.2026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2350A8AD-EADA-4F4D-A36D-C9B385598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0F65DEC3-C50E-445E-8BD9-441A0F6AB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F05C7-5D1C-42D0-9159-89FC20249B7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28215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54C4424-8AC8-48E2-956A-619B138A9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54336A1-CE0E-4322-B5EA-67D1AB242A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A335FC17-EE17-4AD6-8747-6BD2D8C9F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CDE36-CF88-4A9A-85A2-AB7FB49A9E1B}" type="datetimeFigureOut">
              <a:rPr lang="pl-PL" smtClean="0"/>
              <a:t>16.01.2026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0C85326-5797-4620-9738-5D4A6529F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A60B381A-DE8D-4179-A91D-54038F6EA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F05C7-5D1C-42D0-9159-89FC20249B7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95193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7879372-5CEC-4B91-94D0-F8C789D7E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3EA09E1C-98BC-435E-A5AA-9470A1C014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60DFBDF-2099-4752-815A-2D42B203E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CDE36-CF88-4A9A-85A2-AB7FB49A9E1B}" type="datetimeFigureOut">
              <a:rPr lang="pl-PL" smtClean="0"/>
              <a:t>16.01.2026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78374F6F-C501-4502-8DD6-306D58E72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E0A69F92-E966-42E0-953D-9DB0F0E1F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F05C7-5D1C-42D0-9159-89FC20249B7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851136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AF7BF28-56E2-423C-A4C0-5BBA87670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6EC7F5D-8D73-4092-9C6B-10456F5EF0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A512C6FE-3157-40AF-8663-0F3CA4A5F8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26588630-51D2-4F29-AE4B-E466EDB82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CDE36-CF88-4A9A-85A2-AB7FB49A9E1B}" type="datetimeFigureOut">
              <a:rPr lang="pl-PL" smtClean="0"/>
              <a:t>16.01.2026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0C455D2E-BC9E-4DEF-A04A-327284223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FA19CE8B-8063-4A93-8BF3-77A70A293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F05C7-5D1C-42D0-9159-89FC20249B7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36160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3CB19F0-79FB-42CF-A571-28FFE9923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066DE458-3AE6-48BB-81CB-6579893E96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BDA9BEA7-6A8F-4F16-8708-8BBF2442F4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7DFCC8D5-63F5-4A58-9A11-C278C75088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417E5A4C-E9B7-416B-93F7-450EE7946A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BC1D1CF9-5F92-4D4D-BDF0-6431DF5E9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CDE36-CF88-4A9A-85A2-AB7FB49A9E1B}" type="datetimeFigureOut">
              <a:rPr lang="pl-PL" smtClean="0"/>
              <a:t>16.01.2026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C03DFA6D-1D5F-4E1B-984B-C56718E4C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1DF51510-C18B-4504-A905-12CD4ABB2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F05C7-5D1C-42D0-9159-89FC20249B7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17188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68F4EB0-CAA3-48C0-84F1-076708AEE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5E62AAA4-0C49-4483-9034-510A0D8D4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CDE36-CF88-4A9A-85A2-AB7FB49A9E1B}" type="datetimeFigureOut">
              <a:rPr lang="pl-PL" smtClean="0"/>
              <a:t>16.01.2026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7A121BE8-AA11-4E5D-BBB8-F09A6BAE7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39AC36DC-9312-4EC1-B554-AC3A4D9AA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F05C7-5D1C-42D0-9159-89FC20249B7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980671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497D49DD-7DA6-46D5-9B27-C9A2E587B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CDE36-CF88-4A9A-85A2-AB7FB49A9E1B}" type="datetimeFigureOut">
              <a:rPr lang="pl-PL" smtClean="0"/>
              <a:t>16.01.2026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D2A157AF-1C36-4AF4-8BFC-84229CA49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629F72BE-C431-4E80-9508-B52DC78E9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F05C7-5D1C-42D0-9159-89FC20249B7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34021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A959610-931F-4E9E-BE8D-99793B6DA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E48AFD5-4E64-4A0B-80E0-88001F8CC8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B4966472-B516-41A3-BF48-CBAF37EF8A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3C6F0026-763D-4C2D-BA02-D17AC6892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CDE36-CF88-4A9A-85A2-AB7FB49A9E1B}" type="datetimeFigureOut">
              <a:rPr lang="pl-PL" smtClean="0"/>
              <a:t>16.01.2026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F6845BB0-9C16-4509-885C-FF4A55332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DE5487F2-8F9B-480D-A192-EA66D7A06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F05C7-5D1C-42D0-9159-89FC20249B7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7966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AA9EED3-6F61-4F76-B29B-3651A6A82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8EFF7FE9-8766-469D-90CE-C26A5EA3F8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B0DE29BB-DC51-485D-8AF3-D6DE0DAF67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51251555-0DE2-4C9B-9586-0A871C744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CDE36-CF88-4A9A-85A2-AB7FB49A9E1B}" type="datetimeFigureOut">
              <a:rPr lang="pl-PL" smtClean="0"/>
              <a:t>16.01.2026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4A3F4F44-42EB-42DE-81A1-804206263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EBAF9F58-DFD4-4B61-88DB-E0B22F685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F05C7-5D1C-42D0-9159-89FC20249B7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50141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108337A-4D0A-4486-944A-A1BFF71C3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8AEAD544-DA5E-40B4-AA03-C740FAA4E2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1BBE7F1F-0B08-45DE-8573-19B61FB98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CDE36-CF88-4A9A-85A2-AB7FB49A9E1B}" type="datetimeFigureOut">
              <a:rPr lang="pl-PL" smtClean="0"/>
              <a:t>16.01.2026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F706BAFB-310A-4C28-B9DC-41B8528BF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26B373F0-5311-40DA-A028-C781BE59A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F05C7-5D1C-42D0-9159-89FC20249B7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083970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43A0BC13-52C2-4FC3-93A1-B199D75123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4AE9CB07-FC0B-4749-9EDD-3C3D11B706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2BEE603-C27E-4A45-8FCA-722F8680B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CDE36-CF88-4A9A-85A2-AB7FB49A9E1B}" type="datetimeFigureOut">
              <a:rPr lang="pl-PL" smtClean="0"/>
              <a:t>16.01.2026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2F59C484-4B0E-4B78-B25C-544223A8D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D16ACA9-9DD7-4C49-8EF1-2E97F9E60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F05C7-5D1C-42D0-9159-89FC20249B7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0887667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B3BBAFF6-56AE-4752-B511-7633E3F79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85B8703E-2AFF-40B6-9B1B-284DAB8B62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0367A231-05F5-4186-A7EA-D76645C991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ACDE36-CF88-4A9A-85A2-AB7FB49A9E1B}" type="datetimeFigureOut">
              <a:rPr lang="pl-PL" smtClean="0"/>
              <a:t>16.01.2026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10A3E363-BC33-4A06-85E1-2A758058E9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EE5839F9-974F-46D3-AA3C-93865C6C3B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5F05C7-5D1C-42D0-9159-89FC20249B7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1239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1371600"/>
            <a:ext cx="9966960" cy="1828800"/>
          </a:xfrm>
        </p:spPr>
        <p:txBody>
          <a:bodyPr/>
          <a:lstStyle/>
          <a:p>
            <a:pPr algn="ctr"/>
            <a:r>
              <a:rPr sz="4400">
                <a:solidFill>
                  <a:srgbClr val="0B0B0B"/>
                </a:solidFill>
                <a:latin typeface="Arial"/>
              </a:rPr>
              <a:t>Obciążenie i zmienność oceny
przez walidację krzyżową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97280" y="3429000"/>
            <a:ext cx="9966960" cy="2194560"/>
          </a:xfrm>
        </p:spPr>
        <p:txBody>
          <a:bodyPr/>
          <a:lstStyle/>
          <a:p>
            <a:pPr algn="ctr" marL="0" indent="0">
              <a:buNone/>
            </a:pPr>
            <a:r>
              <a:rPr sz="1800">
                <a:solidFill>
                  <a:srgbClr val="52514E"/>
                </a:solidFill>
                <a:latin typeface="Arial"/>
              </a:rPr>
              <a:t>Etap 1 — prezentacja tematu  ·  temat 06, obszar: metodologia eksperymentów</a:t>
            </a:r>
          </a:p>
          <a:p>
            <a:pPr algn="ctr" marL="0" indent="0">
              <a:buNone/>
            </a:pPr>
            <a:r>
              <a:rPr sz="1500">
                <a:solidFill>
                  <a:srgbClr val="898781"/>
                </a:solidFill>
                <a:latin typeface="Arial"/>
              </a:rPr>
              <a:t>R. Kohavi, A Study of Cross-Validation and Bootstrap for Accuracy Estimation and Model Selection, IJCAI 1995</a:t>
            </a:r>
          </a:p>
          <a:p>
            <a:pPr algn="ctr" marL="0" indent="0">
              <a:buNone/>
            </a:pPr>
            <a:r>
              <a:rPr sz="1000">
                <a:solidFill>
                  <a:srgbClr val="898781"/>
                </a:solidFill>
                <a:latin typeface="Arial"/>
              </a:rPr>
              <a:t/>
            </a:r>
          </a:p>
          <a:p>
            <a:pPr algn="ctr" marL="0" indent="0">
              <a:buNone/>
            </a:pPr>
            <a:r>
              <a:rPr sz="2000">
                <a:solidFill>
                  <a:srgbClr val="0B0B0B"/>
                </a:solidFill>
                <a:latin typeface="Arial"/>
              </a:rPr>
              <a:t>Dariusz Salzburg (103931)  ·  Filip Sejud (103928)</a:t>
            </a:r>
          </a:p>
          <a:p>
            <a:pPr algn="ctr" marL="0" indent="0">
              <a:buNone/>
            </a:pPr>
            <a:r>
              <a:rPr sz="1500">
                <a:solidFill>
                  <a:srgbClr val="52514E"/>
                </a:solidFill>
                <a:latin typeface="Arial"/>
              </a:rPr>
              <a:t>Rozpoznawanie wzorców, studia II stopnia, 2026/2027, grupa 2  ·  29.10.2026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731520"/>
            <a:ext cx="10515600" cy="822960"/>
          </a:xfrm>
        </p:spPr>
        <p:txBody>
          <a:bodyPr anchor="ctr"/>
          <a:lstStyle/>
          <a:p>
            <a:pPr algn="ctr"/>
            <a:r>
              <a:rPr sz="3000" b="0">
                <a:solidFill>
                  <a:srgbClr val="0B0B0B"/>
                </a:solidFill>
                <a:latin typeface="Arial"/>
              </a:rPr>
              <a:t>Publikacja i problem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1691640"/>
            <a:ext cx="5486400" cy="3566160"/>
          </a:xfrm>
          <a:prstGeom prst="roundRect">
            <a:avLst>
              <a:gd name="adj" fmla="val 7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1828800"/>
            <a:ext cx="5120640" cy="3291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700" b="1" i="0">
                <a:solidFill>
                  <a:srgbClr val="1F3A5F"/>
                </a:solidFill>
                <a:latin typeface="Arial"/>
              </a:rPr>
              <a:t>Kohavi (IJCAI 1995)</a:t>
            </a:r>
          </a:p>
          <a:p>
            <a:pPr algn="l" marL="219456" indent="-219456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0B0B0B"/>
                </a:solidFill>
                <a:latin typeface="Arial"/>
              </a:rPr>
              <a:t>Jak dobrze CV i bootstrap szacują trafność klasyfikatora?</a:t>
            </a:r>
          </a:p>
          <a:p>
            <a:pPr algn="l" marL="219456" indent="-219456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0B0B0B"/>
                </a:solidFill>
                <a:latin typeface="Arial"/>
              </a:rPr>
              <a:t>C4.5 i Naive‑Bayes, 7 zbiorów UCI, 50 powtórzeń</a:t>
            </a:r>
          </a:p>
          <a:p>
            <a:pPr algn="l" marL="219456" indent="-219456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0B0B0B"/>
                </a:solidFill>
                <a:latin typeface="Arial"/>
              </a:rPr>
              <a:t>CV pesymistyczna dla k = 2 i 5; k = 10–20 prawie bez obciążenia</a:t>
            </a:r>
          </a:p>
          <a:p>
            <a:pPr algn="l" marL="219456" indent="-219456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0B0B0B"/>
                </a:solidFill>
                <a:latin typeface="Arial"/>
              </a:rPr>
              <a:t>Największa wariancja dla k = 2; stratyfikacja pomaga</a:t>
            </a:r>
          </a:p>
          <a:p>
            <a:pPr algn="l" marL="219456" indent="-219456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500" b="1" i="0">
                <a:solidFill>
                  <a:srgbClr val="0B0B0B"/>
                </a:solidFill>
                <a:latin typeface="Arial"/>
              </a:rPr>
              <a:t>Zalecenie: 10‑krotna stratyfikowana CV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1968" y="1691640"/>
            <a:ext cx="47548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 b="1" i="0">
                <a:solidFill>
                  <a:srgbClr val="1F3A5F"/>
                </a:solidFill>
                <a:latin typeface="Arial"/>
              </a:rPr>
              <a:t>Odtwarzamy: Rys. 1 i Rys. 3 (obciążenie i rozrzut vs k)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601968" y="2103120"/>
          <a:ext cx="4754880" cy="27432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97280"/>
                <a:gridCol w="2011680"/>
                <a:gridCol w="164592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Kohavi</a:t>
                      </a:r>
                    </a:p>
                  </a:txBody>
                  <a:tcPr marL="73152" marR="73152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My (adaptacja)</a:t>
                      </a:r>
                    </a:p>
                  </a:txBody>
                  <a:tcPr marL="73152" marR="73152" marT="27432" marB="27432" anchor="ctr"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B0B0B"/>
                          </a:solidFill>
                          <a:latin typeface="Arial"/>
                        </a:rPr>
                        <a:t>Dane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B0B0B"/>
                          </a:solidFill>
                          <a:latin typeface="Arial"/>
                        </a:rPr>
                        <a:t>7 zbiorów UCI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B0B0B"/>
                          </a:solidFill>
                          <a:latin typeface="Arial"/>
                        </a:rPr>
                        <a:t>generator syntetyczny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B0B0B"/>
                          </a:solidFill>
                          <a:latin typeface="Arial"/>
                        </a:rPr>
                        <a:t>Modele</a:t>
                      </a:r>
                    </a:p>
                  </a:txBody>
                  <a:tcPr marL="73152" marR="73152" marT="27432" marB="27432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B0B0B"/>
                          </a:solidFill>
                          <a:latin typeface="Arial"/>
                        </a:rPr>
                        <a:t>C4.5, Naive‑Bayes</a:t>
                      </a:r>
                    </a:p>
                  </a:txBody>
                  <a:tcPr marL="73152" marR="73152" marT="27432" marB="27432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B0B0B"/>
                          </a:solidFill>
                          <a:latin typeface="Arial"/>
                        </a:rPr>
                        <a:t>CART, GaussianNB</a:t>
                      </a:r>
                    </a:p>
                  </a:txBody>
                  <a:tcPr marL="73152" marR="73152" marT="27432" marB="27432" anchor="ctr">
                    <a:solidFill>
                      <a:srgbClr val="F7F8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B0B0B"/>
                          </a:solidFill>
                          <a:latin typeface="Arial"/>
                        </a:rPr>
                        <a:t>Odniesienie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B0B0B"/>
                          </a:solidFill>
                          <a:latin typeface="Arial"/>
                        </a:rPr>
                        <a:t>holdout, 50 powtórzeń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B0B0B"/>
                          </a:solidFill>
                          <a:latin typeface="Arial"/>
                        </a:rPr>
                        <a:t>test N = 10 000, 30 powtórzeń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B0B0B"/>
                          </a:solidFill>
                          <a:latin typeface="Arial"/>
                        </a:rPr>
                        <a:t>k</a:t>
                      </a:r>
                    </a:p>
                  </a:txBody>
                  <a:tcPr marL="73152" marR="73152" marT="27432" marB="27432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B0B0B"/>
                          </a:solidFill>
                          <a:latin typeface="Arial"/>
                        </a:rPr>
                        <a:t>2, 5, 10, 20, LOO, bootstrap</a:t>
                      </a:r>
                    </a:p>
                  </a:txBody>
                  <a:tcPr marL="73152" marR="73152" marT="27432" marB="27432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B0B0B"/>
                          </a:solidFill>
                          <a:latin typeface="Arial"/>
                        </a:rPr>
                        <a:t>2, 5, 10</a:t>
                      </a:r>
                    </a:p>
                  </a:txBody>
                  <a:tcPr marL="73152" marR="73152" marT="27432" marB="27432" anchor="ctr">
                    <a:solidFill>
                      <a:srgbClr val="F7F8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B0B0B"/>
                          </a:solidFill>
                          <a:latin typeface="Arial"/>
                        </a:rPr>
                        <a:t>Bez zmian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B0B0B"/>
                          </a:solidFill>
                          <a:latin typeface="Arial"/>
                        </a:rPr>
                        <a:t>te same foldy dla obu modeli; wiele niezależnych powtórzeń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B0B0B"/>
                          </a:solidFill>
                          <a:latin typeface="Arial"/>
                        </a:rPr>
                        <a:t>tak samo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731520"/>
            <a:ext cx="10515600" cy="822960"/>
          </a:xfrm>
        </p:spPr>
        <p:txBody>
          <a:bodyPr anchor="ctr"/>
          <a:lstStyle/>
          <a:p>
            <a:pPr algn="ctr"/>
            <a:r>
              <a:rPr sz="3000" b="0">
                <a:solidFill>
                  <a:srgbClr val="0B0B0B"/>
                </a:solidFill>
                <a:latin typeface="Arial"/>
              </a:rPr>
              <a:t>Pytanie badawcze i hipotezy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1691640"/>
            <a:ext cx="10515600" cy="1005840"/>
          </a:xfrm>
          <a:prstGeom prst="roundRect">
            <a:avLst>
              <a:gd name="adj" fmla="val 7000"/>
            </a:avLst>
          </a:prstGeom>
          <a:solidFill>
            <a:srgbClr val="E8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1764792"/>
            <a:ext cx="10149840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700" b="1" i="0">
                <a:solidFill>
                  <a:srgbClr val="1F3A5F"/>
                </a:solidFill>
                <a:latin typeface="Arial"/>
              </a:rPr>
              <a:t>Jak liczba części walidacji krzyżowej wpływa na obciążenie i zmienność szacowanego błędu oraz co zmienia stratyfikacja przy niezbalansowanych klasach?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926080"/>
            <a:ext cx="10515600" cy="2743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sz="1700" b="1" i="0">
                <a:solidFill>
                  <a:srgbClr val="1F3A5F"/>
                </a:solidFill>
                <a:latin typeface="Arial"/>
              </a:rPr>
              <a:t>H1  </a:t>
            </a:r>
            <a:r>
              <a:rPr sz="1700" b="0" i="0">
                <a:solidFill>
                  <a:srgbClr val="0B0B0B"/>
                </a:solidFill>
                <a:latin typeface="Arial"/>
              </a:rPr>
              <a:t>Obciążenie pesymistyczne (CV zawyża błąd), największe dla k = 2, bliskie zera dla k = 10.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sz="1700" b="1" i="0">
                <a:solidFill>
                  <a:srgbClr val="1F3A5F"/>
                </a:solidFill>
                <a:latin typeface="Arial"/>
              </a:rPr>
              <a:t>H1′ </a:t>
            </a:r>
            <a:r>
              <a:rPr sz="1700" b="0" i="0">
                <a:solidFill>
                  <a:srgbClr val="0B0B0B"/>
                </a:solidFill>
                <a:latin typeface="Arial"/>
              </a:rPr>
              <a:t>Zmienność największa dla k = 2.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sz="1700" b="1" i="0">
                <a:solidFill>
                  <a:srgbClr val="1F3A5F"/>
                </a:solidFill>
                <a:latin typeface="Arial"/>
              </a:rPr>
              <a:t>H1″ </a:t>
            </a:r>
            <a:r>
              <a:rPr sz="1700" b="0" i="0">
                <a:solidFill>
                  <a:srgbClr val="0B0B0B"/>
                </a:solidFill>
                <a:latin typeface="Arial"/>
              </a:rPr>
              <a:t>Oba efekty silniejsze dla CART (niestabilny) niż dla GaussianNB (stabilny).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700" b="1" i="0">
                <a:solidFill>
                  <a:srgbClr val="1F3A5F"/>
                </a:solidFill>
                <a:latin typeface="Arial"/>
              </a:rPr>
              <a:t>H2  </a:t>
            </a:r>
            <a:r>
              <a:rPr sz="1700" b="0" i="0">
                <a:solidFill>
                  <a:srgbClr val="0B0B0B"/>
                </a:solidFill>
                <a:latin typeface="Arial"/>
              </a:rPr>
              <a:t>Stratyfikacja przy klasie rzadkiej: mniejsza zmienność, brak foldów bez klasy rzadkiej, obciążenie podobne.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731520"/>
            <a:ext cx="10515600" cy="822960"/>
          </a:xfrm>
        </p:spPr>
        <p:txBody>
          <a:bodyPr anchor="ctr"/>
          <a:lstStyle/>
          <a:p>
            <a:pPr algn="ctr"/>
            <a:r>
              <a:rPr sz="3000" b="0">
                <a:solidFill>
                  <a:srgbClr val="0B0B0B"/>
                </a:solidFill>
                <a:latin typeface="Arial"/>
              </a:rPr>
              <a:t>Obciążenie i zmienność estymatora błędu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1691640"/>
            <a:ext cx="10515600" cy="1097280"/>
          </a:xfrm>
          <a:prstGeom prst="roundRect">
            <a:avLst>
              <a:gd name="adj" fmla="val 7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1764792"/>
            <a:ext cx="45720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500" b="1" i="0">
                <a:solidFill>
                  <a:srgbClr val="1F3A5F"/>
                </a:solidFill>
                <a:latin typeface="Arial"/>
              </a:rPr>
              <a:t>Błąd prawdziwy modelu C (generalizacja)</a:t>
            </a:r>
          </a:p>
        </p:txBody>
      </p:sp>
      <p:pic>
        <p:nvPicPr>
          <p:cNvPr id="5" name="Picture 4" descr="f_tr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3594" y="2194560"/>
            <a:ext cx="2753068" cy="411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61888" y="1737360"/>
            <a:ext cx="5212080" cy="10058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 b="0" i="0">
                <a:solidFill>
                  <a:srgbClr val="52514E"/>
                </a:solidFill>
                <a:latin typeface="Arial"/>
              </a:rPr>
              <a:t>Nieznany — przybliżamy go przez błąd eₜₑₛₜ: model nauczony na całym D (200 obiektów), zmierzony na niezależnym teście T (10 000 obiektów).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2926080"/>
            <a:ext cx="10515600" cy="1600200"/>
          </a:xfrm>
          <a:prstGeom prst="roundRect">
            <a:avLst>
              <a:gd name="adj" fmla="val 7000"/>
            </a:avLst>
          </a:prstGeom>
          <a:solidFill>
            <a:srgbClr val="E8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999232"/>
            <a:ext cx="5486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500" b="1" i="0">
                <a:solidFill>
                  <a:srgbClr val="1F3A5F"/>
                </a:solidFill>
                <a:latin typeface="Arial"/>
              </a:rPr>
              <a:t>Estymator CV i jego dwa rodzaje błędu</a:t>
            </a:r>
          </a:p>
        </p:txBody>
      </p:sp>
      <p:pic>
        <p:nvPicPr>
          <p:cNvPr id="9" name="Picture 8" descr="f_bias_s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2761" y="3429000"/>
            <a:ext cx="7392572" cy="457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24128" y="3977639"/>
            <a:ext cx="1014984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marL="0" indent="0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300" b="0" i="0">
                <a:solidFill>
                  <a:srgbClr val="52514E"/>
                </a:solidFill>
                <a:latin typeface="Arial"/>
              </a:rPr>
              <a:t>bias &gt; 0 = pesymizm (CV zawyża błąd)      sd_Δ = odchylenie standardowe różnicy między powtórzeniami = zmienność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4709160"/>
            <a:ext cx="10515600" cy="1005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 marL="219456" indent="-219456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500" b="1" i="0">
                <a:solidFill>
                  <a:srgbClr val="0B0B0B"/>
                </a:solidFill>
                <a:latin typeface="Arial"/>
              </a:rPr>
              <a:t>Pesymizm: </a:t>
            </a:r>
            <a:r>
              <a:rPr sz="1500" b="0" i="0">
                <a:solidFill>
                  <a:srgbClr val="0B0B0B"/>
                </a:solidFill>
                <a:latin typeface="Arial"/>
              </a:rPr>
              <a:t>model w foldzie uczy się na n(k−1)/k obiektach — k = 2: 100, k = 5: 160, k = 10: 180 z 200.</a:t>
            </a:r>
          </a:p>
          <a:p>
            <a:pPr algn="l" marL="219456" indent="-219456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500" b="1" i="0">
                <a:solidFill>
                  <a:srgbClr val="0B0B0B"/>
                </a:solidFill>
                <a:latin typeface="Arial"/>
              </a:rPr>
              <a:t>Powtórzenie: </a:t>
            </a:r>
            <a:r>
              <a:rPr sz="1500" b="0" i="0">
                <a:solidFill>
                  <a:srgbClr val="0B0B0B"/>
                </a:solidFill>
                <a:latin typeface="Arial"/>
              </a:rPr>
              <a:t>niezależny zbiór Dᵣ, r = 1…30 → 30 różnic; ich średnia = bias, odchylenie standardowe = zmienność.</a:t>
            </a:r>
          </a:p>
          <a:p>
            <a:pPr algn="l" marL="219456" indent="-219456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500" b="1" i="0">
                <a:solidFill>
                  <a:srgbClr val="0B0B0B"/>
                </a:solidFill>
                <a:latin typeface="Arial"/>
              </a:rPr>
              <a:t>Niska zmienność ≠ małe obciążenie.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731520"/>
            <a:ext cx="10515600" cy="822960"/>
          </a:xfrm>
        </p:spPr>
        <p:txBody>
          <a:bodyPr anchor="ctr"/>
          <a:lstStyle/>
          <a:p>
            <a:pPr algn="ctr"/>
            <a:r>
              <a:rPr sz="3000" b="0">
                <a:solidFill>
                  <a:srgbClr val="0B0B0B"/>
                </a:solidFill>
                <a:latin typeface="Arial"/>
              </a:rPr>
              <a:t>k‑krotna walidacja krzyżowa: wzór i symbole</a:t>
            </a:r>
          </a:p>
        </p:txBody>
      </p:sp>
      <p:pic>
        <p:nvPicPr>
          <p:cNvPr id="3" name="Picture 2" descr="f_c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868" y="1691640"/>
            <a:ext cx="2732359" cy="77724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41248" y="2651760"/>
            <a:ext cx="10515600" cy="402336"/>
          </a:xfrm>
          <a:prstGeom prst="roundRect">
            <a:avLst>
              <a:gd name="adj" fmla="val 7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ym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960" y="2734056"/>
            <a:ext cx="1773455" cy="274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310128" y="2651760"/>
            <a:ext cx="7863840" cy="4023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 b="0" i="0">
                <a:solidFill>
                  <a:srgbClr val="0B0B0B"/>
                </a:solidFill>
                <a:latin typeface="Arial"/>
              </a:rPr>
              <a:t>zbiór treningowy (n = 200) podzielony losowo na k równych, rozłącznych foldów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3108960"/>
            <a:ext cx="10515600" cy="402336"/>
          </a:xfrm>
          <a:prstGeom prst="roundRect">
            <a:avLst>
              <a:gd name="adj" fmla="val 7000"/>
            </a:avLst>
          </a:prstGeom>
          <a:solidFill>
            <a:srgbClr val="E8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ym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7518" y="3191256"/>
            <a:ext cx="376340" cy="274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10128" y="3108960"/>
            <a:ext cx="7863840" cy="4023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 b="0" i="0">
                <a:solidFill>
                  <a:srgbClr val="0B0B0B"/>
                </a:solidFill>
                <a:latin typeface="Arial"/>
              </a:rPr>
              <a:t>model nauczony bez foldu j (na n(k−1)/k obiektach), sprawdzany na odłożonym foldzie Dⱼ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3566160"/>
            <a:ext cx="10515600" cy="402336"/>
          </a:xfrm>
          <a:prstGeom prst="roundRect">
            <a:avLst>
              <a:gd name="adj" fmla="val 7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ym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44819" y="3648456"/>
            <a:ext cx="661737" cy="274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310128" y="3566160"/>
            <a:ext cx="7863840" cy="4023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 b="0" i="0">
                <a:solidFill>
                  <a:srgbClr val="0B0B0B"/>
                </a:solidFill>
                <a:latin typeface="Arial"/>
              </a:rPr>
              <a:t>liczba pomyłek modelu C₋ⱼ na foldzie Dⱼ i ich odsetek (pomyłki / rozmiar foldu)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4023360"/>
            <a:ext cx="10515600" cy="402336"/>
          </a:xfrm>
          <a:prstGeom prst="roundRect">
            <a:avLst>
              <a:gd name="adj" fmla="val 7000"/>
            </a:avLst>
          </a:prstGeom>
          <a:solidFill>
            <a:srgbClr val="E8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ym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74760" y="4105656"/>
            <a:ext cx="401855" cy="2743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310128" y="4023360"/>
            <a:ext cx="7863840" cy="4023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 b="0" i="0">
                <a:solidFill>
                  <a:srgbClr val="0B0B0B"/>
                </a:solidFill>
                <a:latin typeface="Arial"/>
              </a:rPr>
              <a:t>średnia błędów foldów; przy równych foldach = wszystkie pomyłki / 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4480560"/>
            <a:ext cx="10515600" cy="402336"/>
          </a:xfrm>
          <a:prstGeom prst="roundRect">
            <a:avLst>
              <a:gd name="adj" fmla="val 7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ym_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68744" y="4562856"/>
            <a:ext cx="413886" cy="2743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310128" y="4480560"/>
            <a:ext cx="7863840" cy="4023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 b="0" i="0">
                <a:solidFill>
                  <a:srgbClr val="0B0B0B"/>
                </a:solidFill>
                <a:latin typeface="Arial"/>
              </a:rPr>
              <a:t>błąd modelu nauczonego na całym D, zmierzony na teście T (N = 10 000)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5029200"/>
            <a:ext cx="1051560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50" b="1" i="0">
                <a:solidFill>
                  <a:srgbClr val="0B0B0B"/>
                </a:solidFill>
                <a:latin typeface="Arial"/>
              </a:rPr>
              <a:t>Foldy nie są niezależne: </a:t>
            </a:r>
            <a:r>
              <a:rPr sz="1450" b="0" i="0">
                <a:solidFill>
                  <a:srgbClr val="0B0B0B"/>
                </a:solidFill>
                <a:latin typeface="Arial"/>
              </a:rPr>
              <a:t>zbiory uczące C₋₁ i C₋₂ mają wspólne (k−2)/(k−1) obiektów (k = 10: 8 z 9).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731520"/>
            <a:ext cx="10515600" cy="822960"/>
          </a:xfrm>
        </p:spPr>
        <p:txBody>
          <a:bodyPr anchor="ctr"/>
          <a:lstStyle/>
          <a:p>
            <a:pPr algn="ctr"/>
            <a:r>
              <a:rPr sz="2600" b="0">
                <a:solidFill>
                  <a:srgbClr val="0B0B0B"/>
                </a:solidFill>
                <a:latin typeface="Arial"/>
              </a:rPr>
              <a:t>Przykład ręczny: średnia błędów foldów (D₁, GaussianNB, k = 5)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41248" y="1691640"/>
          <a:ext cx="5852160" cy="268833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14400"/>
                <a:gridCol w="1645920"/>
                <a:gridCol w="1188720"/>
                <a:gridCol w="210312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Fold j</a:t>
                      </a:r>
                    </a:p>
                  </a:txBody>
                  <a:tcPr marL="73152" marR="73152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Obiektów w foldzie</a:t>
                      </a:r>
                    </a:p>
                  </a:txBody>
                  <a:tcPr marL="73152" marR="73152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Pomyłek mⱼ</a:t>
                      </a:r>
                    </a:p>
                  </a:txBody>
                  <a:tcPr marL="73152" marR="73152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eⱼ = mⱼ / 40</a:t>
                      </a:r>
                    </a:p>
                  </a:txBody>
                  <a:tcPr marL="73152" marR="73152" marT="27432" marB="27432" anchor="ctr"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7 / 40 = 0,175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73152" marR="73152" marT="27432" marB="27432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3 / 40 = 0,075</a:t>
                      </a:r>
                    </a:p>
                  </a:txBody>
                  <a:tcPr marL="73152" marR="73152" marT="27432" marB="27432" anchor="ctr">
                    <a:solidFill>
                      <a:srgbClr val="F7F8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7 / 40 = 0,175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73152" marR="73152" marT="27432" marB="27432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8 / 40 = 0,200</a:t>
                      </a:r>
                    </a:p>
                  </a:txBody>
                  <a:tcPr marL="73152" marR="73152" marT="27432" marB="27432" anchor="ctr">
                    <a:solidFill>
                      <a:srgbClr val="F7F8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4 / 40 = 0,100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B0B0B"/>
                          </a:solidFill>
                          <a:latin typeface="Arial"/>
                        </a:rPr>
                        <a:t>Razem</a:t>
                      </a:r>
                    </a:p>
                  </a:txBody>
                  <a:tcPr marL="73152" marR="73152" marT="27432" marB="27432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B0B0B"/>
                          </a:solidFill>
                          <a:latin typeface="Arial"/>
                        </a:rPr>
                        <a:t>200</a:t>
                      </a:r>
                    </a:p>
                  </a:txBody>
                  <a:tcPr marL="73152" marR="73152" marT="27432" marB="27432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B0B0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73152" marR="73152" marT="27432" marB="27432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B0B0B"/>
                          </a:solidFill>
                          <a:latin typeface="Arial"/>
                        </a:rPr>
                        <a:t>29 / 200 = 0,145</a:t>
                      </a:r>
                    </a:p>
                  </a:txBody>
                  <a:tcPr marL="73152" marR="73152" marT="27432" marB="27432" anchor="ctr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6967728" y="1691640"/>
            <a:ext cx="4389120" cy="2697480"/>
          </a:xfrm>
          <a:prstGeom prst="roundRect">
            <a:avLst>
              <a:gd name="adj" fmla="val 7000"/>
            </a:avLst>
          </a:prstGeom>
          <a:solidFill>
            <a:srgbClr val="E8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50608" y="1783080"/>
            <a:ext cx="40233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1" i="0">
                <a:solidFill>
                  <a:srgbClr val="1F3A5F"/>
                </a:solidFill>
                <a:latin typeface="Arial"/>
              </a:rPr>
              <a:t>Rachunek</a:t>
            </a:r>
          </a:p>
        </p:txBody>
      </p:sp>
      <p:pic>
        <p:nvPicPr>
          <p:cNvPr id="6" name="Picture 5" descr="f_ex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4888" y="2148840"/>
            <a:ext cx="4114789" cy="319617"/>
          </a:xfrm>
          <a:prstGeom prst="rect">
            <a:avLst/>
          </a:prstGeom>
        </p:spPr>
      </p:pic>
      <p:pic>
        <p:nvPicPr>
          <p:cNvPr id="7" name="Picture 6" descr="f_ex1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5468" y="2606040"/>
            <a:ext cx="1893639" cy="310896"/>
          </a:xfrm>
          <a:prstGeom prst="rect">
            <a:avLst/>
          </a:prstGeom>
        </p:spPr>
      </p:pic>
      <p:pic>
        <p:nvPicPr>
          <p:cNvPr id="8" name="Picture 7" descr="f_ex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2773" y="3108960"/>
            <a:ext cx="1459029" cy="31089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50608" y="3447288"/>
            <a:ext cx="40233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 marL="0" indent="0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0" i="0">
                <a:solidFill>
                  <a:srgbClr val="52514E"/>
                </a:solidFill>
                <a:latin typeface="Arial"/>
              </a:rPr>
              <a:t>(model na całym D₁, test 10 000 obiektów)</a:t>
            </a:r>
          </a:p>
        </p:txBody>
      </p:sp>
      <p:pic>
        <p:nvPicPr>
          <p:cNvPr id="10" name="Picture 9" descr="f_ex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2983" y="3840480"/>
            <a:ext cx="2578608" cy="3474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41248" y="4526280"/>
            <a:ext cx="1051560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 marL="219456" indent="-219456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52514E"/>
                </a:solidFill>
                <a:latin typeface="Arial"/>
              </a:rPr>
              <a:t>Jedna różnica to przypadek — obciążenie i zmienność liczymy z 30 takich różnic (po jednej na zbiór Dᵣ).</a:t>
            </a:r>
          </a:p>
          <a:p>
            <a:pPr algn="l" marL="219456" indent="-219456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52514E"/>
                </a:solidFill>
                <a:latin typeface="Arial"/>
              </a:rPr>
              <a:t>Liczby z próby uruchomienia (results/pilot, 2026-10-25).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731520"/>
            <a:ext cx="10515600" cy="822960"/>
          </a:xfrm>
        </p:spPr>
        <p:txBody>
          <a:bodyPr anchor="ctr"/>
          <a:lstStyle/>
          <a:p>
            <a:pPr algn="ctr"/>
            <a:r>
              <a:rPr sz="2600" b="0">
                <a:solidFill>
                  <a:srgbClr val="0B0B0B"/>
                </a:solidFill>
                <a:latin typeface="Arial"/>
              </a:rPr>
              <a:t>Generator danych, powtórzenia i ocena referencyjna</a:t>
            </a:r>
          </a:p>
        </p:txBody>
      </p:sp>
      <p:pic>
        <p:nvPicPr>
          <p:cNvPr id="3" name="Picture 2" descr="f_g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546" y="1645920"/>
            <a:ext cx="10331003" cy="457200"/>
          </a:xfrm>
          <a:prstGeom prst="rect">
            <a:avLst/>
          </a:prstGeom>
        </p:spPr>
      </p:pic>
      <p:pic>
        <p:nvPicPr>
          <p:cNvPr id="4" name="Picture 3" descr="genera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2076" y="2194560"/>
            <a:ext cx="6190398" cy="2468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4754880"/>
            <a:ext cx="1051560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 marL="219456" indent="-219456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sz="1450" b="1" i="0">
                <a:solidFill>
                  <a:srgbClr val="0B0B0B"/>
                </a:solidFill>
                <a:latin typeface="Arial"/>
              </a:rPr>
              <a:t>Generator: </a:t>
            </a:r>
            <a:r>
              <a:rPr sz="1450" b="0" i="0">
                <a:solidFill>
                  <a:srgbClr val="0B0B0B"/>
                </a:solidFill>
                <a:latin typeface="Arial"/>
              </a:rPr>
              <a:t>dwie klasy normalne, 5 cech informacyjnych + 5 szumu; błąd Bayesa 15,9 % (π₁ = 0,5), 7,0 % (π₁ = 0,1).</a:t>
            </a:r>
          </a:p>
          <a:p>
            <a:pPr algn="l" marL="219456" indent="-219456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50" b="1" i="0">
                <a:solidFill>
                  <a:srgbClr val="0B0B0B"/>
                </a:solidFill>
                <a:latin typeface="Arial"/>
              </a:rPr>
              <a:t>Powtórzenia: </a:t>
            </a:r>
            <a:r>
              <a:rPr sz="1450" b="0" i="0">
                <a:solidFill>
                  <a:srgbClr val="0B0B0B"/>
                </a:solidFill>
                <a:latin typeface="Arial"/>
              </a:rPr>
              <a:t>R = 30 zbiorów Dᵣ po n = 200.   </a:t>
            </a:r>
            <a:r>
              <a:rPr sz="1450" b="1" i="0">
                <a:solidFill>
                  <a:srgbClr val="0B0B0B"/>
                </a:solidFill>
                <a:latin typeface="Arial"/>
              </a:rPr>
              <a:t>Ocena referencyjna: </a:t>
            </a:r>
            <a:r>
              <a:rPr sz="1450" b="0" i="0">
                <a:solidFill>
                  <a:srgbClr val="0B0B0B"/>
                </a:solidFill>
                <a:latin typeface="Arial"/>
              </a:rPr>
              <a:t>jeden test T, N = 10 000, osobne ziarno, tylko do oceny.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731520"/>
            <a:ext cx="10515600" cy="822960"/>
          </a:xfrm>
        </p:spPr>
        <p:txBody>
          <a:bodyPr anchor="ctr"/>
          <a:lstStyle/>
          <a:p>
            <a:pPr algn="ctr"/>
            <a:r>
              <a:rPr sz="3000" b="0">
                <a:solidFill>
                  <a:srgbClr val="0B0B0B"/>
                </a:solidFill>
                <a:latin typeface="Arial"/>
              </a:rPr>
              <a:t>Plan odtworzenia: estymata CV kontra duży test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1691640"/>
            <a:ext cx="2011680" cy="777240"/>
          </a:xfrm>
          <a:prstGeom prst="roundRect">
            <a:avLst>
              <a:gd name="adj" fmla="val 7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1746504"/>
            <a:ext cx="1792224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300" b="1" i="0">
                <a:solidFill>
                  <a:srgbClr val="1F3A5F"/>
                </a:solidFill>
                <a:latin typeface="Arial"/>
              </a:rPr>
              <a:t>Generator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150" b="0" i="0">
                <a:solidFill>
                  <a:srgbClr val="52514E"/>
                </a:solidFill>
                <a:latin typeface="Arial"/>
              </a:rPr>
              <a:t>ziarno 1000 + r dla Dᵣ; 90001 dla 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898648" y="1947672"/>
            <a:ext cx="320040" cy="274320"/>
          </a:xfrm>
          <a:prstGeom prst="rightArrow">
            <a:avLst/>
          </a:prstGeom>
          <a:solidFill>
            <a:srgbClr val="C3C2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64408" y="1691640"/>
            <a:ext cx="2103120" cy="777240"/>
          </a:xfrm>
          <a:prstGeom prst="roundRect">
            <a:avLst>
              <a:gd name="adj" fmla="val 7000"/>
            </a:avLst>
          </a:prstGeom>
          <a:solidFill>
            <a:srgbClr val="E8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ox_D_r,\ _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4136" y="1764792"/>
            <a:ext cx="1536192" cy="2560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374136" y="2075688"/>
            <a:ext cx="1883663" cy="35661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150" b="0" i="0">
                <a:solidFill>
                  <a:srgbClr val="52514E"/>
                </a:solidFill>
                <a:latin typeface="Arial"/>
              </a:rPr>
              <a:t>n = 200, klasy 50/50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413248" y="1947672"/>
            <a:ext cx="320040" cy="274320"/>
          </a:xfrm>
          <a:prstGeom prst="rightArrow">
            <a:avLst/>
          </a:prstGeom>
          <a:solidFill>
            <a:srgbClr val="C3C2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779008" y="1691640"/>
            <a:ext cx="2834640" cy="777240"/>
          </a:xfrm>
          <a:prstGeom prst="roundRect">
            <a:avLst>
              <a:gd name="adj" fmla="val 7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88736" y="1746504"/>
            <a:ext cx="2615184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300" b="1" i="0">
                <a:solidFill>
                  <a:srgbClr val="1F3A5F"/>
                </a:solidFill>
                <a:latin typeface="Arial"/>
              </a:rPr>
              <a:t>CV, k ∈ {2, 5, 10}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150" b="0" i="0">
                <a:solidFill>
                  <a:srgbClr val="52514E"/>
                </a:solidFill>
                <a:latin typeface="Arial"/>
              </a:rPr>
              <a:t>KFold(shuffle, ziarno 2000 + r); te same podziały dla obu modeli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659368" y="1947672"/>
            <a:ext cx="320040" cy="274320"/>
          </a:xfrm>
          <a:prstGeom prst="rightArrow">
            <a:avLst/>
          </a:prstGeom>
          <a:solidFill>
            <a:srgbClr val="C3C2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025128" y="1691640"/>
            <a:ext cx="2331720" cy="777240"/>
          </a:xfrm>
          <a:prstGeom prst="roundRect">
            <a:avLst>
              <a:gd name="adj" fmla="val 7000"/>
            </a:avLst>
          </a:prstGeom>
          <a:solidFill>
            <a:srgbClr val="E8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box_\hat e_9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4855" y="1764792"/>
            <a:ext cx="570974" cy="2560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134855" y="2075688"/>
            <a:ext cx="2112263" cy="35661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150" b="0" i="0">
                <a:solidFill>
                  <a:srgbClr val="52514E"/>
                </a:solidFill>
                <a:latin typeface="Arial"/>
              </a:rPr>
              <a:t>średnia błędów k foldów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4178808" y="2505456"/>
            <a:ext cx="274320" cy="420624"/>
          </a:xfrm>
          <a:prstGeom prst="downArrow">
            <a:avLst/>
          </a:prstGeom>
          <a:solidFill>
            <a:srgbClr val="C3C2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264408" y="2971800"/>
            <a:ext cx="2103120" cy="777240"/>
          </a:xfrm>
          <a:prstGeom prst="roundRect">
            <a:avLst>
              <a:gd name="adj" fmla="val 7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74136" y="3026664"/>
            <a:ext cx="1883663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300" b="1" i="0">
                <a:solidFill>
                  <a:srgbClr val="1F3A5F"/>
                </a:solidFill>
                <a:latin typeface="Arial"/>
              </a:rPr>
              <a:t>Model na całym Dᵣ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150" b="0" i="0">
                <a:solidFill>
                  <a:srgbClr val="52514E"/>
                </a:solidFill>
                <a:latin typeface="Arial"/>
              </a:rPr>
              <a:t>jedno dopasowanie, 200 obiektów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413248" y="3227832"/>
            <a:ext cx="320040" cy="274320"/>
          </a:xfrm>
          <a:prstGeom prst="rightArrow">
            <a:avLst/>
          </a:prstGeom>
          <a:solidFill>
            <a:srgbClr val="C3C2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779008" y="2971800"/>
            <a:ext cx="2834640" cy="777240"/>
          </a:xfrm>
          <a:prstGeom prst="roundRect">
            <a:avLst>
              <a:gd name="adj" fmla="val 7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88736" y="3026664"/>
            <a:ext cx="2615184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300" b="1" i="0">
                <a:solidFill>
                  <a:srgbClr val="1F3A5F"/>
                </a:solidFill>
                <a:latin typeface="Arial"/>
              </a:rPr>
              <a:t>Test T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150" b="0" i="0">
                <a:solidFill>
                  <a:srgbClr val="52514E"/>
                </a:solidFill>
                <a:latin typeface="Arial"/>
              </a:rPr>
              <a:t>N = 10 000; tylko do oceny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659368" y="3227832"/>
            <a:ext cx="320040" cy="274320"/>
          </a:xfrm>
          <a:prstGeom prst="rightArrow">
            <a:avLst/>
          </a:prstGeom>
          <a:solidFill>
            <a:srgbClr val="C3C2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025128" y="2971800"/>
            <a:ext cx="2331720" cy="777240"/>
          </a:xfrm>
          <a:prstGeom prst="roundRect">
            <a:avLst>
              <a:gd name="adj" fmla="val 7000"/>
            </a:avLst>
          </a:prstGeom>
          <a:solidFill>
            <a:srgbClr val="E8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box_e_{tes_9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4855" y="3044952"/>
            <a:ext cx="516941" cy="25603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134855" y="3355848"/>
            <a:ext cx="2112263" cy="35661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150" b="0" i="0">
                <a:solidFill>
                  <a:srgbClr val="52514E"/>
                </a:solidFill>
                <a:latin typeface="Arial"/>
              </a:rPr>
              <a:t>odsetek pomyłek na T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10076688" y="3794759"/>
            <a:ext cx="274320" cy="347472"/>
          </a:xfrm>
          <a:prstGeom prst="downArrow">
            <a:avLst/>
          </a:prstGeom>
          <a:solidFill>
            <a:srgbClr val="C3C2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41248" y="4187952"/>
            <a:ext cx="10515600" cy="731520"/>
          </a:xfrm>
          <a:prstGeom prst="roundRect">
            <a:avLst>
              <a:gd name="adj" fmla="val 7000"/>
            </a:avLst>
          </a:prstGeom>
          <a:solidFill>
            <a:srgbClr val="E8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f_delt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9848" y="4334255"/>
            <a:ext cx="2401777" cy="38404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681728" y="4206240"/>
            <a:ext cx="6492240" cy="6949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50" b="0" i="0">
                <a:solidFill>
                  <a:srgbClr val="0B0B0B"/>
                </a:solidFill>
                <a:latin typeface="Arial"/>
              </a:rPr>
              <a:t>→ 30 wartości dla każdego k i modelu: średnia = obciążenie, odchylenie standardowe = zmienność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" y="5074920"/>
            <a:ext cx="1051560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 b="1" i="0">
                <a:solidFill>
                  <a:srgbClr val="52514E"/>
                </a:solidFill>
                <a:latin typeface="Arial"/>
              </a:rPr>
              <a:t>Modele: </a:t>
            </a:r>
            <a:r>
              <a:rPr sz="1400" b="0" i="0">
                <a:solidFill>
                  <a:srgbClr val="52514E"/>
                </a:solidFill>
                <a:latin typeface="Arial"/>
              </a:rPr>
              <a:t>GaussianNB, CART (DecisionTreeClassifier, domyślne).   </a:t>
            </a:r>
            <a:r>
              <a:rPr sz="1400" b="1" i="0">
                <a:solidFill>
                  <a:srgbClr val="52514E"/>
                </a:solidFill>
                <a:latin typeface="Arial"/>
              </a:rPr>
              <a:t>Metryka: </a:t>
            </a:r>
            <a:r>
              <a:rPr sz="1400" b="0" i="0">
                <a:solidFill>
                  <a:srgbClr val="52514E"/>
                </a:solidFill>
                <a:latin typeface="Arial"/>
              </a:rPr>
              <a:t>odsetek pomyłek.   </a:t>
            </a:r>
            <a:r>
              <a:rPr sz="1400" b="1" i="0">
                <a:solidFill>
                  <a:srgbClr val="52514E"/>
                </a:solidFill>
                <a:latin typeface="Arial"/>
              </a:rPr>
              <a:t>Utrwalone w: </a:t>
            </a:r>
            <a:r>
              <a:rPr sz="1400" b="0" i="0">
                <a:solidFill>
                  <a:srgbClr val="52514E"/>
                </a:solidFill>
                <a:latin typeface="Arial"/>
              </a:rPr>
              <a:t>cvbias/protocol.py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731520"/>
            <a:ext cx="10515600" cy="822960"/>
          </a:xfrm>
        </p:spPr>
        <p:txBody>
          <a:bodyPr anchor="ctr"/>
          <a:lstStyle/>
          <a:p>
            <a:pPr algn="ctr"/>
            <a:r>
              <a:rPr sz="2600" b="0">
                <a:solidFill>
                  <a:srgbClr val="0B0B0B"/>
                </a:solidFill>
                <a:latin typeface="Arial"/>
              </a:rPr>
              <a:t>Eksperyment własny: stratyfikacja przy klasie rzadkiej (≈ 10 %)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1691640"/>
            <a:ext cx="5120640" cy="3931920"/>
          </a:xfrm>
          <a:prstGeom prst="roundRect">
            <a:avLst>
              <a:gd name="adj" fmla="val 7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1828800"/>
            <a:ext cx="4754880" cy="374903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600" b="1" i="0">
                <a:solidFill>
                  <a:srgbClr val="1F3A5F"/>
                </a:solidFill>
                <a:latin typeface="Arial"/>
              </a:rPr>
              <a:t>Plan</a:t>
            </a:r>
          </a:p>
          <a:p>
            <a:pPr algn="l" marL="219456" indent="-219456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500" b="0" i="0">
                <a:solidFill>
                  <a:srgbClr val="0B0B0B"/>
                </a:solidFill>
                <a:latin typeface="Arial"/>
              </a:rPr>
              <a:t>Generator z π₁ = 0,1 → ok. 20 obiektów klasy rzadkiej na 200; 30 zbiorów, osobny test T′.</a:t>
            </a:r>
          </a:p>
          <a:p>
            <a:pPr algn="l" marL="219456" indent="-219456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500" b="0" i="0">
                <a:solidFill>
                  <a:srgbClr val="0B0B0B"/>
                </a:solidFill>
                <a:latin typeface="Arial"/>
              </a:rPr>
              <a:t>Na tym samym Dᵣ: KFold(5) i StratifiedKFold(5), to samo ziarno.</a:t>
            </a:r>
          </a:p>
          <a:p>
            <a:pPr algn="l" marL="219456" indent="-219456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500" b="0" i="0">
                <a:solidFill>
                  <a:srgbClr val="0B0B0B"/>
                </a:solidFill>
                <a:latin typeface="Arial"/>
              </a:rPr>
              <a:t>Miary: odsetek pomyłek, czułość klasy rzadkiej, liczba foldów bez klasy rzadkiej.</a:t>
            </a:r>
          </a:p>
          <a:p>
            <a:pPr algn="l" marL="219456" indent="-219456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500" b="1" i="0">
                <a:solidFill>
                  <a:srgbClr val="0B0B0B"/>
                </a:solidFill>
                <a:latin typeface="Arial"/>
              </a:rPr>
              <a:t>Fold bez klasy rzadkiej → czułość nieokreślona → zapis jako brak wyniku z powodem.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36208" y="1691640"/>
            <a:ext cx="512064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300" b="0" i="0">
                <a:solidFill>
                  <a:srgbClr val="52514E"/>
                </a:solidFill>
                <a:latin typeface="Arial"/>
              </a:rPr>
              <a:t>Próba: D₁ (24 obiektów klasy rzadkiej na 200), foldy po 40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36208" y="2148840"/>
          <a:ext cx="5120640" cy="230428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31520"/>
                <a:gridCol w="2194560"/>
                <a:gridCol w="219456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Fold</a:t>
                      </a:r>
                    </a:p>
                  </a:txBody>
                  <a:tcPr marL="73152" marR="73152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KFold: klasa rzadka</a:t>
                      </a:r>
                    </a:p>
                  </a:txBody>
                  <a:tcPr marL="73152" marR="73152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Stratified: klasa rzadka</a:t>
                      </a:r>
                    </a:p>
                  </a:txBody>
                  <a:tcPr marL="73152" marR="73152" marT="27432" marB="27432" anchor="ctr"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7F8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73152" marR="73152" marT="27432" marB="27432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7F8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36208" y="4526280"/>
            <a:ext cx="5120640" cy="1005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 marL="219456" indent="-219456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rgbClr val="52514E"/>
                </a:solidFill>
                <a:latin typeface="Arial"/>
              </a:rPr>
              <a:t>W 3 zbiorach próby: foldy bez klasy rzadkiej — KFold 2, Stratified 0.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731520"/>
            <a:ext cx="10515600" cy="822960"/>
          </a:xfrm>
        </p:spPr>
        <p:txBody>
          <a:bodyPr anchor="ctr"/>
          <a:lstStyle/>
          <a:p>
            <a:pPr algn="ctr"/>
            <a:r>
              <a:rPr sz="2600" b="0">
                <a:solidFill>
                  <a:srgbClr val="0B0B0B"/>
                </a:solidFill>
                <a:latin typeface="Arial"/>
              </a:rPr>
              <a:t>Wykonalność: próba uruchomienia i kontrola poprawności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1691640"/>
            <a:ext cx="3383280" cy="1280160"/>
          </a:xfrm>
          <a:prstGeom prst="roundRect">
            <a:avLst>
              <a:gd name="adj" fmla="val 7000"/>
            </a:avLst>
          </a:prstGeom>
          <a:solidFill>
            <a:srgbClr val="E8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1764792"/>
            <a:ext cx="310896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marL="0" indent="0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3200" b="1" i="0">
                <a:solidFill>
                  <a:srgbClr val="1F3A5F"/>
                </a:solidFill>
                <a:latin typeface="Arial"/>
              </a:rPr>
              <a:t>174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" y="2404872"/>
            <a:ext cx="310896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52514E"/>
                </a:solidFill>
                <a:latin typeface="Arial"/>
              </a:rPr>
              <a:t>dopasowań w próbie</a:t>
            </a:r>
          </a:p>
          <a:p>
            <a:pPr algn="ctr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898781"/>
                </a:solidFill>
                <a:latin typeface="Arial"/>
              </a:rPr>
              <a:t>3 zbiory, oba eksperymenty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07408" y="1691640"/>
            <a:ext cx="3383280" cy="1280160"/>
          </a:xfrm>
          <a:prstGeom prst="roundRect">
            <a:avLst>
              <a:gd name="adj" fmla="val 7000"/>
            </a:avLst>
          </a:prstGeom>
          <a:solidFill>
            <a:srgbClr val="E8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44568" y="1764792"/>
            <a:ext cx="310896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marL="0" indent="0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3200" b="1" i="0">
                <a:solidFill>
                  <a:srgbClr val="1F3A5F"/>
                </a:solidFill>
                <a:latin typeface="Arial"/>
              </a:rPr>
              <a:t>0,16 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44568" y="2404872"/>
            <a:ext cx="310896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52514E"/>
                </a:solidFill>
                <a:latin typeface="Arial"/>
              </a:rPr>
              <a:t>czas próby na CPU</a:t>
            </a:r>
          </a:p>
          <a:p>
            <a:pPr algn="ctr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898781"/>
                </a:solidFill>
                <a:latin typeface="Arial"/>
              </a:rPr>
              <a:t>zwykły laptop, bez GPU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73568" y="1691640"/>
            <a:ext cx="3383280" cy="1280160"/>
          </a:xfrm>
          <a:prstGeom prst="roundRect">
            <a:avLst>
              <a:gd name="adj" fmla="val 7000"/>
            </a:avLst>
          </a:prstGeom>
          <a:solidFill>
            <a:srgbClr val="E8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10728" y="1764792"/>
            <a:ext cx="310896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marL="0" indent="0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3200" b="1" i="0">
                <a:solidFill>
                  <a:srgbClr val="1F3A5F"/>
                </a:solidFill>
                <a:latin typeface="Arial"/>
              </a:rPr>
              <a:t>1920 / 2500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10728" y="2404872"/>
            <a:ext cx="310896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52514E"/>
                </a:solidFill>
                <a:latin typeface="Arial"/>
              </a:rPr>
              <a:t>dopasowań w pełnej serii</a:t>
            </a:r>
          </a:p>
          <a:p>
            <a:pPr algn="ctr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898781"/>
                </a:solidFill>
                <a:latin typeface="Arial"/>
              </a:rPr>
              <a:t>budżet z karty tematu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200400"/>
            <a:ext cx="5120640" cy="23774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500" b="1" i="0">
                <a:solidFill>
                  <a:srgbClr val="1F3A5F"/>
                </a:solidFill>
                <a:latin typeface="Arial"/>
              </a:rPr>
              <a:t>Środowisko</a:t>
            </a:r>
          </a:p>
          <a:p>
            <a:pPr algn="l" marL="219456" indent="-219456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0B0B0B"/>
                </a:solidFill>
                <a:latin typeface="Arial"/>
              </a:rPr>
              <a:t>Python 3.14.8, scikit‑learn 1.8.0</a:t>
            </a:r>
          </a:p>
          <a:p>
            <a:pPr algn="l" marL="219456" indent="-219456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0B0B0B"/>
                </a:solidFill>
                <a:latin typeface="Arial"/>
              </a:rPr>
              <a:t>Zapisujemy błąd i skład klas każdego foldu, podsumowania, meta.json (wersje, ziarna, liczba dopasowań)</a:t>
            </a:r>
          </a:p>
          <a:p>
            <a:pPr algn="l" marL="219456" indent="-219456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0B0B0B"/>
                </a:solidFill>
                <a:latin typeface="Arial"/>
              </a:rPr>
              <a:t>github.com/FylyppS/rozpoznawanie-wzorcow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6208" y="3200400"/>
            <a:ext cx="5120640" cy="23774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500" b="1" i="0">
                <a:solidFill>
                  <a:srgbClr val="1F3A5F"/>
                </a:solidFill>
                <a:latin typeface="Arial"/>
              </a:rPr>
              <a:t>Kontrola poprawności</a:t>
            </a:r>
          </a:p>
          <a:p>
            <a:pPr algn="l" marL="219456" indent="-219456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0B0B0B"/>
                </a:solidFill>
                <a:latin typeface="Arial"/>
              </a:rPr>
              <a:t>Duży test tylko do oceny — nic według niego nie dobieramy</a:t>
            </a:r>
          </a:p>
          <a:p>
            <a:pPr algn="l" marL="219456" indent="-219456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0B0B0B"/>
                </a:solidFill>
                <a:latin typeface="Arial"/>
              </a:rPr>
              <a:t>Te same zbiory i podziały dla wszystkich wariantów CV i obu modeli</a:t>
            </a:r>
          </a:p>
          <a:p>
            <a:pPr algn="l" marL="219456" indent="-219456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0B0B0B"/>
                </a:solidFill>
                <a:latin typeface="Arial"/>
              </a:rPr>
              <a:t>Ziarna, rozmiary, k, metryki utrwalone przed badaniem</a:t>
            </a:r>
          </a:p>
          <a:p>
            <a:pPr algn="l" marL="219456" indent="-219456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0B0B0B"/>
                </a:solidFill>
                <a:latin typeface="Arial"/>
              </a:rPr>
              <a:t>Brak przecieku: model w foldzie widzi tylko D ∖ Dⱼ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731520"/>
            <a:ext cx="10515600" cy="822960"/>
          </a:xfrm>
        </p:spPr>
        <p:txBody>
          <a:bodyPr anchor="ctr"/>
          <a:lstStyle/>
          <a:p>
            <a:pPr algn="ctr"/>
            <a:r>
              <a:rPr sz="3000" b="0">
                <a:solidFill>
                  <a:srgbClr val="0B0B0B"/>
                </a:solidFill>
                <a:latin typeface="Arial"/>
              </a:rPr>
              <a:t>Ograniczenia planu i źródła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1691640"/>
            <a:ext cx="5120640" cy="3657600"/>
          </a:xfrm>
          <a:prstGeom prst="roundRect">
            <a:avLst>
              <a:gd name="adj" fmla="val 7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1828800"/>
            <a:ext cx="4754880" cy="34747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600" b="1" i="0">
                <a:solidFill>
                  <a:srgbClr val="1F3A5F"/>
                </a:solidFill>
                <a:latin typeface="Arial"/>
              </a:rPr>
              <a:t>Ograniczenia</a:t>
            </a:r>
          </a:p>
          <a:p>
            <a:pPr algn="l" marL="219456" indent="-219456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500" b="0" i="0">
                <a:solidFill>
                  <a:srgbClr val="0B0B0B"/>
                </a:solidFill>
                <a:latin typeface="Arial"/>
              </a:rPr>
              <a:t>Dane „idealne” dla GaussianNB (rozkład zgodny z jego założeniami).</a:t>
            </a:r>
          </a:p>
          <a:p>
            <a:pPr algn="l" marL="219456" indent="-219456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500" b="0" i="0">
                <a:solidFill>
                  <a:srgbClr val="0B0B0B"/>
                </a:solidFill>
                <a:latin typeface="Arial"/>
              </a:rPr>
              <a:t>Jeden wspólny test T dla wszystkich powtórzeń.</a:t>
            </a:r>
          </a:p>
          <a:p>
            <a:pPr algn="l" marL="219456" indent="-219456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500" b="0" i="0">
                <a:solidFill>
                  <a:srgbClr val="0B0B0B"/>
                </a:solidFill>
                <a:latin typeface="Arial"/>
              </a:rPr>
              <a:t>R = 30: efekty poniżej ok. 1 p.p. nieodróżnialne od zera.</a:t>
            </a:r>
          </a:p>
          <a:p>
            <a:pPr algn="l" marL="219456" indent="-219456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0B0B0B"/>
                </a:solidFill>
                <a:latin typeface="Arial"/>
              </a:rPr>
              <a:t>Kohavi: „prawda” z holdoutu; próbki z jednego zbioru; Propozycja 1 zakłada stabilny model.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36208" y="1691640"/>
            <a:ext cx="5120640" cy="3657600"/>
          </a:xfrm>
          <a:prstGeom prst="roundRect">
            <a:avLst>
              <a:gd name="adj" fmla="val 7000"/>
            </a:avLst>
          </a:prstGeom>
          <a:solidFill>
            <a:srgbClr val="E8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19088" y="1828800"/>
            <a:ext cx="4754880" cy="34747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600" b="1" i="0">
                <a:solidFill>
                  <a:srgbClr val="1F3A5F"/>
                </a:solidFill>
                <a:latin typeface="Arial"/>
              </a:rPr>
              <a:t>Źródła</a:t>
            </a:r>
          </a:p>
          <a:p>
            <a:pPr algn="l" marL="219456" indent="-219456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400" b="0" i="0">
                <a:solidFill>
                  <a:srgbClr val="0B0B0B"/>
                </a:solidFill>
                <a:latin typeface="Arial"/>
              </a:rPr>
              <a:t>R. Kohavi, A Study of Cross-Validation and Bootstrap for Accuracy Estimation and Model Selection, IJCAI 1995 — ai.stanford.edu/~ronnyk/accEst.pdf</a:t>
            </a:r>
          </a:p>
          <a:p>
            <a:pPr algn="l" marL="219456" indent="-219456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400" b="0" i="0">
                <a:solidFill>
                  <a:srgbClr val="0B0B0B"/>
                </a:solidFill>
                <a:latin typeface="Arial"/>
              </a:rPr>
              <a:t>scikit-learn 1.8.0: KFold, StratifiedKFold, GaussianNB, DecisionTreeClassifier</a:t>
            </a:r>
          </a:p>
          <a:p>
            <a:pPr algn="l" marL="219456" indent="-219456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400" b="0" i="0">
                <a:solidFill>
                  <a:srgbClr val="0B0B0B"/>
                </a:solidFill>
                <a:latin typeface="Arial"/>
              </a:rPr>
              <a:t>Karta tematu 06 i kontrakt przedmiotu (Moodle PO)</a:t>
            </a:r>
          </a:p>
          <a:p>
            <a:pPr algn="l" marL="219456" indent="-219456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rgbClr val="0B0B0B"/>
                </a:solidFill>
                <a:latin typeface="Arial"/>
              </a:rPr>
              <a:t>Kod, protokół i surowe wyniki: github.com/FylyppS/rozpoznawanie-wzorcow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718</TotalTime>
  <Words>976</Words>
  <Application>Microsoft Office PowerPoint</Application>
  <PresentationFormat>Panoramiczny</PresentationFormat>
  <Paragraphs>201</Paragraphs>
  <Slides>15</Slides>
  <Notes>15</Notes>
  <HiddenSlides>0</HiddenSlides>
  <MMClips>3</MMClips>
  <ScaleCrop>false</ScaleCrop>
  <HeadingPairs>
    <vt:vector size="6" baseType="variant">
      <vt:variant>
        <vt:lpstr>Używane czcionki</vt:lpstr>
      </vt:variant>
      <vt:variant>
        <vt:i4>7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15</vt:i4>
      </vt:variant>
    </vt:vector>
  </HeadingPairs>
  <TitlesOfParts>
    <vt:vector size="23" baseType="lpstr">
      <vt:lpstr>Aptos</vt:lpstr>
      <vt:lpstr>Arial</vt:lpstr>
      <vt:lpstr>Calibri</vt:lpstr>
      <vt:lpstr>Calibri Light</vt:lpstr>
      <vt:lpstr>Helvetica</vt:lpstr>
      <vt:lpstr>Times New Roman</vt:lpstr>
      <vt:lpstr>Wingdings</vt:lpstr>
      <vt:lpstr>Motyw pakietu Office</vt:lpstr>
      <vt:lpstr>Prezentacja programu PowerPoint</vt:lpstr>
      <vt:lpstr>Spis treści</vt:lpstr>
      <vt:lpstr>Cel i zakres pracy</vt:lpstr>
      <vt:lpstr>Część treningowa</vt:lpstr>
      <vt:lpstr>Zestawy danych</vt:lpstr>
      <vt:lpstr>FNC-1 (Fake News Challenge)</vt:lpstr>
      <vt:lpstr>Prezentacja programu PowerPoint</vt:lpstr>
      <vt:lpstr>Prezentacja programu PowerPoint</vt:lpstr>
      <vt:lpstr>Modele</vt:lpstr>
      <vt:lpstr>Uruchomienie programu trenującego</vt:lpstr>
      <vt:lpstr>Proces uczenia </vt:lpstr>
      <vt:lpstr>Prezentacja programu PowerPoint</vt:lpstr>
      <vt:lpstr>Architektura systemu</vt:lpstr>
      <vt:lpstr>Demonstracja działania</vt:lpstr>
      <vt:lpstr>Wyniki i możliwości rozwoju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programu PowerPoint</dc:title>
  <dc:creator>Maria Nolepa</dc:creator>
  <cp:lastModifiedBy>Filip Sejud</cp:lastModifiedBy>
  <cp:revision>30</cp:revision>
  <dcterms:created xsi:type="dcterms:W3CDTF">2025-06-12T06:17:54Z</dcterms:created>
  <dcterms:modified xsi:type="dcterms:W3CDTF">2026-01-16T14:02:33Z</dcterms:modified>
</cp:coreProperties>
</file>