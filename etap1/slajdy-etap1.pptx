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6"/>
    <p:sldId id="267" r:id="rId5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 pośredni 2 — Ak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08" autoAdjust="0"/>
    <p:restoredTop sz="85522" autoAdjust="0"/>
  </p:normalViewPr>
  <p:slideViewPr>
    <p:cSldViewPr snapToGrid="0">
      <p:cViewPr varScale="1">
        <p:scale>
          <a:sx n="81" d="100"/>
          <a:sy n="81" d="100"/>
        </p:scale>
        <p:origin x="471" y="42"/>
      </p:cViewPr>
      <p:guideLst/>
    </p:cSldViewPr>
  </p:slideViewPr>
  <p:outlineViewPr>
    <p:cViewPr>
      <p:scale>
        <a:sx n="33" d="100"/>
        <a:sy n="33" d="100"/>
      </p:scale>
      <p:origin x="0" y="-42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21" d="100"/>
          <a:sy n="121" d="100"/>
        </p:scale>
        <p:origin x="3354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12.xml"/><Relationship Id="rId6" Type="http://schemas.openxmlformats.org/officeDocument/2006/relationships/slide" Target="slides/slide1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C80C69-E2FB-44D7-8358-0A30A9D0DDA7}" type="datetimeFigureOut">
              <a:rPr lang="pl-PL" smtClean="0"/>
              <a:t>16.01.2026</a:t>
            </a:fld>
            <a:endParaRPr lang="pl-PL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l-PL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05AD6D-ABC3-43C3-8673-B926A00C8DB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4888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Temat 06 z karty tematów. Odtwarzamy pytanie z pracy Kohaviego (1995) w adaptacji: własny generator danych i modele ze scikit-learn. Ok. 10 minut.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Kohavi mierzył trafność; my mierzymy błąd = 1 − trafność. Zamiana danych i modeli to adaptacja — cel metodologiczny bez zmian.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Hipotezy wynikają z krzywej uczenia (mniej danych → większy błąd) i z niestabilności modelu. Wynik negatywny nie obniża oceny, jeśli procedura jest poprawna.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Pytanie kontrolne: czy niższa wariancja oznacza mniejsze obciążenie? Nie — to dwie różne składowe błędu estymatora (MSE = bias² + wariancja). U Kohaviego bootstrap .632 ma niską wariancję i duże obciążenie.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Każdy obiekt jest dokładnie raz w foldzie testowym. k foldów = k dopasowań modelu. Pytanie kontrolne 1: dziesięć foldów nie daje dziesięciu niezależnych pomiarów, bo zbiory uczące nakładają się w 8/9.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weryfikacji ustnej: policzyć średnią pięciu ułamków i pokazać, że 29/200 daje to samo. Ujemna różnica w jednym zbiorze nie przeczy pesymistycznemu obciążeniu — obciążenie to średnia po wielu zbiorach.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Parametry generatora ustalone a priori (znany błąd Bayesa), nie według testu. GaussianNB jest tu dobrze wyspecyfikowany (stabilny), CART musi przybliżać granicę ukośną (niestabilny). Zmiana δ: większe δ → mniejszy błąd.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Czego nie wolno wybierać według dużego testu: parametrów modeli, generatora ani wariantu CV — T służy tylko do oceny. Wskazanie w kodzie: experiment.run_series.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Stratyfikacja nie zmienia rozmiaru treningu, więc obciążenie podobne; usuwa losowość udziału klas między foldami, więc zmniejsza zmienność. Czułość dodajemy, bo przy 10 % klasy rzadkiej błąd 0/1 jest zdominowany przez klasę większościową.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Mała próba potwierdza działający generator, kod i budżet. Pełna seria to sekundy — ryzykiem nie jest obliczenie, lecz poprawność protokołu.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Praca autora (Kohavi): pytanie, definicje, schemat porównania. Nasz wkład: generator, protokół, kod, eksperyment własny.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Slajd na pytania po prezentacji.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451621F-BC41-4363-B3E9-913F0F26D7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535E59BB-D807-48A1-830E-3B2CFAA1DE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9C1353AD-D099-47DE-BC9B-6B1DC60A91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CDE36-CF88-4A9A-85A2-AB7FB49A9E1B}" type="datetimeFigureOut">
              <a:rPr lang="pl-PL" smtClean="0"/>
              <a:t>16.01.2026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2350A8AD-EADA-4F4D-A36D-C9B385598C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0F65DEC3-C50E-445E-8BD9-441A0F6AB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5F05C7-5D1C-42D0-9159-89FC20249B7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2282152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54C4424-8AC8-48E2-956A-619B138A9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D54336A1-CE0E-4322-B5EA-67D1AB242A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Edytuj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335FC17-EE17-4AD6-8747-6BD2D8C9F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CDE36-CF88-4A9A-85A2-AB7FB49A9E1B}" type="datetimeFigureOut">
              <a:rPr lang="pl-PL" smtClean="0"/>
              <a:t>16.01.2026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90C85326-5797-4620-9738-5D4A6529FE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A60B381A-DE8D-4179-A91D-54038F6EA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5F05C7-5D1C-42D0-9159-89FC20249B7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951936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7879372-5CEC-4B91-94D0-F8C789D7E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3EA09E1C-98BC-435E-A5AA-9470A1C014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Edytuj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F60DFBDF-2099-4752-815A-2D42B203E3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CDE36-CF88-4A9A-85A2-AB7FB49A9E1B}" type="datetimeFigureOut">
              <a:rPr lang="pl-PL" smtClean="0"/>
              <a:t>16.01.2026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78374F6F-C501-4502-8DD6-306D58E720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E0A69F92-E966-42E0-953D-9DB0F0E1F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5F05C7-5D1C-42D0-9159-89FC20249B7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9851136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AF7BF28-56E2-423C-A4C0-5BBA87670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16EC7F5D-8D73-4092-9C6B-10456F5EF0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Edytuj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A512C6FE-3157-40AF-8663-0F3CA4A5F8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Edytuj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26588630-51D2-4F29-AE4B-E466EDB823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CDE36-CF88-4A9A-85A2-AB7FB49A9E1B}" type="datetimeFigureOut">
              <a:rPr lang="pl-PL" smtClean="0"/>
              <a:t>16.01.2026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0C455D2E-BC9E-4DEF-A04A-327284223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FA19CE8B-8063-4A93-8BF3-77A70A293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5F05C7-5D1C-42D0-9159-89FC20249B7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5361608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3CB19F0-79FB-42CF-A571-28FFE99237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066DE458-3AE6-48BB-81CB-6579893E96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Edytuj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BDA9BEA7-6A8F-4F16-8708-8BBF2442F4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Edytuj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7DFCC8D5-63F5-4A58-9A11-C278C75088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Edytuj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417E5A4C-E9B7-416B-93F7-450EE7946A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Edytuj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BC1D1CF9-5F92-4D4D-BDF0-6431DF5E9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CDE36-CF88-4A9A-85A2-AB7FB49A9E1B}" type="datetimeFigureOut">
              <a:rPr lang="pl-PL" smtClean="0"/>
              <a:t>16.01.2026</a:t>
            </a:fld>
            <a:endParaRPr lang="pl-PL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C03DFA6D-1D5F-4E1B-984B-C56718E4CA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1DF51510-C18B-4504-A905-12CD4ABB2D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5F05C7-5D1C-42D0-9159-89FC20249B7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17188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68F4EB0-CAA3-48C0-84F1-076708AEE3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5E62AAA4-0C49-4483-9034-510A0D8D49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CDE36-CF88-4A9A-85A2-AB7FB49A9E1B}" type="datetimeFigureOut">
              <a:rPr lang="pl-PL" smtClean="0"/>
              <a:t>16.01.2026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7A121BE8-AA11-4E5D-BBB8-F09A6BAE7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9AC36DC-9312-4EC1-B554-AC3A4D9AA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5F05C7-5D1C-42D0-9159-89FC20249B7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8980671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497D49DD-7DA6-46D5-9B27-C9A2E587BC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CDE36-CF88-4A9A-85A2-AB7FB49A9E1B}" type="datetimeFigureOut">
              <a:rPr lang="pl-PL" smtClean="0"/>
              <a:t>16.01.2026</a:t>
            </a:fld>
            <a:endParaRPr lang="pl-PL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D2A157AF-1C36-4AF4-8BFC-84229CA498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629F72BE-C431-4E80-9508-B52DC78E9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5F05C7-5D1C-42D0-9159-89FC20249B7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5340219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A959610-931F-4E9E-BE8D-99793B6DA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EE48AFD5-4E64-4A0B-80E0-88001F8CC8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Edytuj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B4966472-B516-41A3-BF48-CBAF37EF8A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Edytuj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3C6F0026-763D-4C2D-BA02-D17AC6892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CDE36-CF88-4A9A-85A2-AB7FB49A9E1B}" type="datetimeFigureOut">
              <a:rPr lang="pl-PL" smtClean="0"/>
              <a:t>16.01.2026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F6845BB0-9C16-4509-885C-FF4A55332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DE5487F2-8F9B-480D-A192-EA66D7A06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5F05C7-5D1C-42D0-9159-89FC20249B7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79668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AA9EED3-6F61-4F76-B29B-3651A6A82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8EFF7FE9-8766-469D-90CE-C26A5EA3F8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B0DE29BB-DC51-485D-8AF3-D6DE0DAF67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Edytuj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51251555-0DE2-4C9B-9586-0A871C744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CDE36-CF88-4A9A-85A2-AB7FB49A9E1B}" type="datetimeFigureOut">
              <a:rPr lang="pl-PL" smtClean="0"/>
              <a:t>16.01.2026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4A3F4F44-42EB-42DE-81A1-804206263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EBAF9F58-DFD4-4B61-88DB-E0B22F685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5F05C7-5D1C-42D0-9159-89FC20249B7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501412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108337A-4D0A-4486-944A-A1BFF71C35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8AEAD544-DA5E-40B4-AA03-C740FAA4E2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Edytuj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1BBE7F1F-0B08-45DE-8573-19B61FB98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CDE36-CF88-4A9A-85A2-AB7FB49A9E1B}" type="datetimeFigureOut">
              <a:rPr lang="pl-PL" smtClean="0"/>
              <a:t>16.01.2026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F706BAFB-310A-4C28-B9DC-41B8528BFE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26B373F0-5311-40DA-A028-C781BE59A1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5F05C7-5D1C-42D0-9159-89FC20249B7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7083970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43A0BC13-52C2-4FC3-93A1-B199D751234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4AE9CB07-FC0B-4749-9EDD-3C3D11B706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Edytuj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32BEE603-C27E-4A45-8FCA-722F8680B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ACDE36-CF88-4A9A-85A2-AB7FB49A9E1B}" type="datetimeFigureOut">
              <a:rPr lang="pl-PL" smtClean="0"/>
              <a:t>16.01.2026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2F59C484-4B0E-4B78-B25C-544223A8D0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FD16ACA9-9DD7-4C49-8EF1-2E97F9E60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5F05C7-5D1C-42D0-9159-89FC20249B7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0887667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B3BBAFF6-56AE-4752-B511-7633E3F797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85B8703E-2AFF-40B6-9B1B-284DAB8B62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Edytuj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0367A231-05F5-4186-A7EA-D76645C991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ACDE36-CF88-4A9A-85A2-AB7FB49A9E1B}" type="datetimeFigureOut">
              <a:rPr lang="pl-PL" smtClean="0"/>
              <a:t>16.01.2026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0A3E363-BC33-4A06-85E1-2A758058E9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EE5839F9-974F-46D3-AA3C-93865C6C3B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5F05C7-5D1C-42D0-9159-89FC20249B7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312399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1371600"/>
            <a:ext cx="9966960" cy="1828800"/>
          </a:xfrm>
        </p:spPr>
        <p:txBody>
          <a:bodyPr/>
          <a:lstStyle/>
          <a:p>
            <a:pPr algn="ctr"/>
            <a:r>
              <a:rPr sz="4400">
                <a:solidFill>
                  <a:srgbClr val="0B0B0B"/>
                </a:solidFill>
                <a:latin typeface="Arial"/>
              </a:rPr>
              <a:t>Obciążenie i zmienność oceny
przez walidację krzyżową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97280" y="3429000"/>
            <a:ext cx="9966960" cy="2194560"/>
          </a:xfrm>
        </p:spPr>
        <p:txBody>
          <a:bodyPr/>
          <a:lstStyle/>
          <a:p>
            <a:pPr algn="ctr" marL="0" indent="0">
              <a:buNone/>
            </a:pPr>
            <a:r>
              <a:rPr sz="1800">
                <a:solidFill>
                  <a:srgbClr val="52514E"/>
                </a:solidFill>
                <a:latin typeface="Arial"/>
              </a:rPr>
              <a:t>Etap 1 — prezentacja tematu  ·  temat 06, obszar: metodologia eksperymentów</a:t>
            </a:r>
          </a:p>
          <a:p>
            <a:pPr algn="ctr" marL="0" indent="0">
              <a:buNone/>
            </a:pPr>
            <a:r>
              <a:rPr sz="1500">
                <a:solidFill>
                  <a:srgbClr val="898781"/>
                </a:solidFill>
                <a:latin typeface="Arial"/>
              </a:rPr>
              <a:t>R. Kohavi, A Study of Cross-Validation and Bootstrap for Accuracy Estimation and Model Selection, IJCAI 1995</a:t>
            </a:r>
          </a:p>
          <a:p>
            <a:pPr algn="ctr" marL="0" indent="0">
              <a:buNone/>
            </a:pPr>
            <a:r>
              <a:rPr sz="1000">
                <a:solidFill>
                  <a:srgbClr val="898781"/>
                </a:solidFill>
                <a:latin typeface="Arial"/>
              </a:rPr>
              <a:t/>
            </a:r>
          </a:p>
          <a:p>
            <a:pPr algn="ctr" marL="0" indent="0">
              <a:buNone/>
            </a:pPr>
            <a:r>
              <a:rPr sz="2000">
                <a:solidFill>
                  <a:srgbClr val="0B0B0B"/>
                </a:solidFill>
                <a:latin typeface="Arial"/>
              </a:rPr>
              <a:t>Dariusz Salzburg (103931)  ·  Filip Sejud (103928)</a:t>
            </a:r>
          </a:p>
          <a:p>
            <a:pPr algn="ctr" marL="0" indent="0">
              <a:buNone/>
            </a:pPr>
            <a:r>
              <a:rPr sz="1500">
                <a:solidFill>
                  <a:srgbClr val="52514E"/>
                </a:solidFill>
                <a:latin typeface="Arial"/>
              </a:rPr>
              <a:t>Rozpoznawanie wzorców, studia II stopnia, 2026/2027, grupa 2  ·  29.10.2026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731520"/>
            <a:ext cx="10515600" cy="822960"/>
          </a:xfrm>
        </p:spPr>
        <p:txBody>
          <a:bodyPr anchor="ctr"/>
          <a:lstStyle/>
          <a:p>
            <a:pPr algn="ctr"/>
            <a:r>
              <a:rPr sz="3000" b="0">
                <a:solidFill>
                  <a:srgbClr val="0B0B0B"/>
                </a:solidFill>
                <a:latin typeface="Arial"/>
              </a:rPr>
              <a:t>Publikacja i problem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691640"/>
            <a:ext cx="6035040" cy="3840480"/>
          </a:xfrm>
          <a:prstGeom prst="roundRect">
            <a:avLst>
              <a:gd name="adj" fmla="val 7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1828800"/>
            <a:ext cx="5669280" cy="3566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0" indent="0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700" b="1" i="0">
                <a:solidFill>
                  <a:srgbClr val="1F3A5F"/>
                </a:solidFill>
                <a:latin typeface="Arial"/>
              </a:rPr>
              <a:t>Kohavi (IJCAI 1995)</a:t>
            </a:r>
          </a:p>
          <a:p>
            <a:pPr algn="l" marL="219456" indent="-219456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0B0B0B"/>
                </a:solidFill>
                <a:latin typeface="Arial"/>
              </a:rPr>
              <a:t>Pytanie: jak dobrze walidacja krzyżowa (CV) i bootstrap szacują trafność klasyfikatora?</a:t>
            </a:r>
          </a:p>
          <a:p>
            <a:pPr algn="l" marL="219456" indent="-219456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0B0B0B"/>
                </a:solidFill>
                <a:latin typeface="Arial"/>
              </a:rPr>
              <a:t>C4.5 i Naive‑Bayes na 7 zbiorach UCI, 50 powtórzeń; „prawdziwa” trafność z holdoutu na reszcie zbioru</a:t>
            </a:r>
          </a:p>
          <a:p>
            <a:pPr algn="l" marL="219456" indent="-219456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0B0B0B"/>
                </a:solidFill>
                <a:latin typeface="Arial"/>
              </a:rPr>
              <a:t>CV zaniża trafność (pesymizm) — najbardziej dla k = 2 i 5; dla k = 10–20 prawie bez obciążenia</a:t>
            </a:r>
          </a:p>
          <a:p>
            <a:pPr algn="l" marL="219456" indent="-219456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0B0B0B"/>
                </a:solidFill>
                <a:latin typeface="Arial"/>
              </a:rPr>
              <a:t>Największa wariancja dla k = 2; stratyfikacja zmniejsza obciążenie i wariancję</a:t>
            </a:r>
          </a:p>
          <a:p>
            <a:pPr algn="l" marL="219456" indent="-219456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500" b="1" i="0">
                <a:solidFill>
                  <a:srgbClr val="0B0B0B"/>
                </a:solidFill>
                <a:latin typeface="Arial"/>
              </a:rPr>
              <a:t>Zalecenie: 10‑krotna stratyfikowana CV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50608" y="1691640"/>
            <a:ext cx="4206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0" indent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1F3A5F"/>
                </a:solidFill>
                <a:latin typeface="Arial"/>
              </a:rPr>
              <a:t>Co odtwarzamy, a co zmieniamy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50608" y="2103120"/>
          <a:ext cx="4206240" cy="268833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51560"/>
                <a:gridCol w="1737360"/>
                <a:gridCol w="141732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Kohavi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My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Arial"/>
                        </a:rPr>
                        <a:t>Pytanie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Arial"/>
                        </a:rPr>
                        <a:t>obciążenie i wariancja CV vs 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Arial"/>
                        </a:rPr>
                        <a:t>to samo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Arial"/>
                        </a:rPr>
                        <a:t>Dane</a:t>
                      </a:r>
                    </a:p>
                  </a:txBody>
                  <a:tcPr marL="73152" marR="73152"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Arial"/>
                        </a:rPr>
                        <a:t>7 zbiorów UCI</a:t>
                      </a:r>
                    </a:p>
                  </a:txBody>
                  <a:tcPr marL="73152" marR="73152"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Arial"/>
                        </a:rPr>
                        <a:t>generator syntetyczny</a:t>
                      </a:r>
                    </a:p>
                  </a:txBody>
                  <a:tcPr marL="73152" marR="73152" marT="27432" marB="27432" anchor="ctr"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Arial"/>
                        </a:rPr>
                        <a:t>Modele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Arial"/>
                        </a:rPr>
                        <a:t>C4.5, Naive‑Bayes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Arial"/>
                        </a:rPr>
                        <a:t>CART, GaussianNB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Arial"/>
                        </a:rPr>
                        <a:t>Odniesienie</a:t>
                      </a:r>
                    </a:p>
                  </a:txBody>
                  <a:tcPr marL="73152" marR="73152"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Arial"/>
                        </a:rPr>
                        <a:t>holdout, 50 powt.</a:t>
                      </a:r>
                    </a:p>
                  </a:txBody>
                  <a:tcPr marL="73152" marR="73152"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Arial"/>
                        </a:rPr>
                        <a:t>test N = 10 000, 30 powt.</a:t>
                      </a:r>
                    </a:p>
                  </a:txBody>
                  <a:tcPr marL="73152" marR="73152" marT="27432" marB="27432" anchor="ctr"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Arial"/>
                        </a:rPr>
                        <a:t>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Arial"/>
                        </a:rPr>
                        <a:t>2, 5, 10, 20, LOO, bootstrap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Arial"/>
                        </a:rPr>
                        <a:t>2, 5, 10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Arial"/>
                        </a:rPr>
                        <a:t>Stratyfikacja</a:t>
                      </a:r>
                    </a:p>
                  </a:txBody>
                  <a:tcPr marL="73152" marR="73152"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Arial"/>
                        </a:rPr>
                        <a:t>klasy zbalansowane</a:t>
                      </a:r>
                    </a:p>
                  </a:txBody>
                  <a:tcPr marL="73152" marR="73152"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Arial"/>
                        </a:rPr>
                        <a:t>klasa rzadka 10 %</a:t>
                      </a:r>
                    </a:p>
                  </a:txBody>
                  <a:tcPr marL="73152" marR="73152" marT="27432" marB="27432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731520"/>
            <a:ext cx="10515600" cy="822960"/>
          </a:xfrm>
        </p:spPr>
        <p:txBody>
          <a:bodyPr anchor="ctr"/>
          <a:lstStyle/>
          <a:p>
            <a:pPr algn="ctr"/>
            <a:r>
              <a:rPr sz="3000" b="0">
                <a:solidFill>
                  <a:srgbClr val="0B0B0B"/>
                </a:solidFill>
                <a:latin typeface="Arial"/>
              </a:rPr>
              <a:t>Pytanie badawcze i hipotezy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1691640"/>
            <a:ext cx="10515600" cy="6858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0" indent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700" b="1" i="0">
                <a:solidFill>
                  <a:srgbClr val="1F3A5F"/>
                </a:solidFill>
                <a:latin typeface="Arial"/>
              </a:rPr>
              <a:t>Jak liczba części walidacji krzyżowej wpływa na obciążenie i zmienność szacowanego błędu oraz co zmienia stratyfikacja przy niezbalansowanych klasach?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41248" y="2606040"/>
            <a:ext cx="5120640" cy="2926080"/>
          </a:xfrm>
          <a:prstGeom prst="roundRect">
            <a:avLst>
              <a:gd name="adj" fmla="val 7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2715768"/>
            <a:ext cx="4754880" cy="2743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0" indent="0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 b="1" i="0">
                <a:solidFill>
                  <a:srgbClr val="1F3A5F"/>
                </a:solidFill>
                <a:latin typeface="Arial"/>
              </a:rPr>
              <a:t>P1 · liczba foldów k = 2, 5, 10</a:t>
            </a:r>
          </a:p>
          <a:p>
            <a:pPr algn="l" marL="219456" indent="-219456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450" b="0" i="0">
                <a:solidFill>
                  <a:srgbClr val="0B0B0B"/>
                </a:solidFill>
                <a:latin typeface="Arial"/>
              </a:rPr>
              <a:t>H1: ê_CV zawyża błąd (pesymizm) najbardziej dla k = 2, bo model w foldzie uczy się tylko na n/2 obiektów; dla k = 10 obciążenie bliskie zera.</a:t>
            </a:r>
          </a:p>
          <a:p>
            <a:pPr algn="l" marL="219456" indent="-219456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450" b="0" i="0">
                <a:solidFill>
                  <a:srgbClr val="0B0B0B"/>
                </a:solidFill>
                <a:latin typeface="Arial"/>
              </a:rPr>
              <a:t>H1′: zmienność ê_CV jest największa dla k = 2.</a:t>
            </a:r>
          </a:p>
          <a:p>
            <a:pPr algn="l" marL="219456" indent="-219456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450" b="0" i="0">
                <a:solidFill>
                  <a:srgbClr val="0B0B0B"/>
                </a:solidFill>
                <a:latin typeface="Arial"/>
              </a:rPr>
              <a:t>H1″: efekty silniejsze dla CART (model niestabilny) niż dla GaussianNB (stabilny).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36208" y="2606040"/>
            <a:ext cx="5120640" cy="2926080"/>
          </a:xfrm>
          <a:prstGeom prst="roundRect">
            <a:avLst>
              <a:gd name="adj" fmla="val 7000"/>
            </a:avLst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19088" y="2715768"/>
            <a:ext cx="4754880" cy="2743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0" indent="0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 b="1" i="0">
                <a:solidFill>
                  <a:srgbClr val="1F3A5F"/>
                </a:solidFill>
                <a:latin typeface="Arial"/>
              </a:rPr>
              <a:t>P2 · stratyfikacja przy klasie rzadkiej (10 %)</a:t>
            </a:r>
          </a:p>
          <a:p>
            <a:pPr algn="l" marL="219456" indent="-219456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450" b="0" i="0">
                <a:solidFill>
                  <a:srgbClr val="0B0B0B"/>
                </a:solidFill>
                <a:latin typeface="Arial"/>
              </a:rPr>
              <a:t>H2: stratyfikowane 5‑foldowe CV ma mniejszą zmienność niż zwykłe i nie daje foldów bez klasy rzadkiej.</a:t>
            </a:r>
          </a:p>
          <a:p>
            <a:pPr algn="l" marL="219456" indent="-219456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450" b="0" i="0">
                <a:solidFill>
                  <a:srgbClr val="0B0B0B"/>
                </a:solidFill>
                <a:latin typeface="Arial"/>
              </a:rPr>
              <a:t>H2′: obciążenie podobne — rozmiar treningu w foldzie jest taki sam.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731520"/>
            <a:ext cx="10515600" cy="822960"/>
          </a:xfrm>
        </p:spPr>
        <p:txBody>
          <a:bodyPr anchor="ctr"/>
          <a:lstStyle/>
          <a:p>
            <a:pPr algn="ctr"/>
            <a:r>
              <a:rPr sz="3000" b="0">
                <a:solidFill>
                  <a:srgbClr val="0B0B0B"/>
                </a:solidFill>
                <a:latin typeface="Arial"/>
              </a:rPr>
              <a:t>Obciążenie i zmienność estymatora błędu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691640"/>
            <a:ext cx="10515600" cy="1051560"/>
          </a:xfrm>
          <a:prstGeom prst="roundRect">
            <a:avLst>
              <a:gd name="adj" fmla="val 7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1764792"/>
            <a:ext cx="3200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0" indent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1F3A5F"/>
                </a:solidFill>
                <a:latin typeface="Arial"/>
              </a:rPr>
              <a:t>Błąd prawdziwy modelu C</a:t>
            </a:r>
          </a:p>
        </p:txBody>
      </p:sp>
      <p:pic>
        <p:nvPicPr>
          <p:cNvPr id="5" name="Picture 4" descr="f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" y="2148840"/>
            <a:ext cx="2569530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73168" y="1737360"/>
            <a:ext cx="6400800" cy="9601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 marL="0" indent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0" i="0">
                <a:solidFill>
                  <a:srgbClr val="52514E"/>
                </a:solidFill>
                <a:latin typeface="Arial"/>
              </a:rPr>
              <a:t>Prawdopodobieństwo pomyłki na nowym obiekcie z tego samego rozkładu. Nieznane — przybliżamy je błędem e_test modelu na dużym, niezależnym teście T (N = 10 000).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2880360"/>
            <a:ext cx="10515600" cy="1280160"/>
          </a:xfrm>
          <a:prstGeom prst="roundRect">
            <a:avLst>
              <a:gd name="adj" fmla="val 7000"/>
            </a:avLst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953512"/>
            <a:ext cx="45720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0" indent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1F3A5F"/>
                </a:solidFill>
                <a:latin typeface="Arial"/>
              </a:rPr>
              <a:t>Estymator ê_CV: obciążenie i zmienność</a:t>
            </a:r>
          </a:p>
        </p:txBody>
      </p:sp>
      <p:pic>
        <p:nvPicPr>
          <p:cNvPr id="9" name="Picture 8" descr="f_bias_s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3355848"/>
            <a:ext cx="5016285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76288" y="2926080"/>
            <a:ext cx="4297680" cy="11887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 marL="0" indent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0" i="0">
                <a:solidFill>
                  <a:srgbClr val="52514E"/>
                </a:solidFill>
                <a:latin typeface="Arial"/>
              </a:rPr>
              <a:t>Obciążenie: błąd systematyczny — dodatnie = CV zawyża błąd (pesymizm). Zmienność: rozrzut ê_CV między powtórzeniami. Jedno nie wynika z drugiego.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4297680"/>
            <a:ext cx="1051560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19456" indent="-219456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  <a:buFont typeface="Arial"/>
              <a:buChar char="•"/>
            </a:pPr>
            <a:r>
              <a:rPr sz="1400" b="1" i="0">
                <a:solidFill>
                  <a:srgbClr val="0B0B0B"/>
                </a:solidFill>
                <a:latin typeface="Arial"/>
              </a:rPr>
              <a:t>Skąd pesymizm: </a:t>
            </a:r>
            <a:r>
              <a:rPr sz="1400" b="0" i="0">
                <a:solidFill>
                  <a:srgbClr val="0B0B0B"/>
                </a:solidFill>
                <a:latin typeface="Arial"/>
              </a:rPr>
              <a:t>model w foldzie uczy się na n(k−1)/k obiektów, nie na n (k = 2: 100, k = 5: 160, k = 10: 180 z 200). Mniej danych → większy błąd.</a:t>
            </a:r>
          </a:p>
          <a:p>
            <a:pPr algn="l" marL="219456" indent="-219456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  <a:buFont typeface="Arial"/>
              <a:buChar char="•"/>
            </a:pPr>
            <a:r>
              <a:rPr sz="1400" b="1" i="0">
                <a:solidFill>
                  <a:srgbClr val="0B0B0B"/>
                </a:solidFill>
                <a:latin typeface="Arial"/>
              </a:rPr>
              <a:t>Skąd zmienność: </a:t>
            </a:r>
            <a:r>
              <a:rPr sz="1400" b="0" i="0">
                <a:solidFill>
                  <a:srgbClr val="0B0B0B"/>
                </a:solidFill>
                <a:latin typeface="Arial"/>
              </a:rPr>
              <a:t>losowy zbiór treningowy i losowy podział na foldy.</a:t>
            </a:r>
          </a:p>
          <a:p>
            <a:pPr algn="l" marL="219456" indent="-219456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 b="1" i="0">
                <a:solidFill>
                  <a:srgbClr val="0B0B0B"/>
                </a:solidFill>
                <a:latin typeface="Arial"/>
              </a:rPr>
              <a:t>Jak liczymy: </a:t>
            </a:r>
            <a:r>
              <a:rPr sz="1400" b="0" i="0">
                <a:solidFill>
                  <a:srgbClr val="0B0B0B"/>
                </a:solidFill>
                <a:latin typeface="Arial"/>
              </a:rPr>
              <a:t>30 niezależnych zbiorów D_r → 30 różnic ê_CV,r − e_test,r; ich średnia = obciążenie, odchylenie standardowe = zmienność.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731520"/>
            <a:ext cx="10515600" cy="822960"/>
          </a:xfrm>
        </p:spPr>
        <p:txBody>
          <a:bodyPr anchor="ctr"/>
          <a:lstStyle/>
          <a:p>
            <a:pPr algn="ctr"/>
            <a:r>
              <a:rPr sz="3000" b="0">
                <a:solidFill>
                  <a:srgbClr val="0B0B0B"/>
                </a:solidFill>
                <a:latin typeface="Arial"/>
              </a:rPr>
              <a:t>k‑krotna walidacja krzyżowa: wzór i symbole</a:t>
            </a:r>
          </a:p>
        </p:txBody>
      </p:sp>
      <p:pic>
        <p:nvPicPr>
          <p:cNvPr id="3" name="Picture 2" descr="f_c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1691640"/>
            <a:ext cx="2732359" cy="77724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41248" y="2651760"/>
          <a:ext cx="10515600" cy="21945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841248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Symbol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Znaczenie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Arial"/>
                        </a:rPr>
                        <a:t>D = D_1 ∪ … ∪ D_k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Arial"/>
                        </a:rPr>
                        <a:t>zbiór treningowy (n = 200) podzielony losowo na k równych, rozłącznych części (foldów)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Arial"/>
                        </a:rPr>
                        <a:t>C_−j</a:t>
                      </a:r>
                    </a:p>
                  </a:txBody>
                  <a:tcPr marL="73152" marR="73152"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Arial"/>
                        </a:rPr>
                        <a:t>model nauczony na wszystkich foldach poza j‑tym, czyli na n(k−1)/k obiektach</a:t>
                      </a:r>
                    </a:p>
                  </a:txBody>
                  <a:tcPr marL="73152" marR="73152" marT="27432" marB="27432" anchor="ctr"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Arial"/>
                        </a:rPr>
                        <a:t>m_j, e_j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Arial"/>
                        </a:rPr>
                        <a:t>liczba pomyłek modelu C_−j na odłożonym foldzie D_j i ich odsetek e_j = m_j / |D_j|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Arial"/>
                        </a:rPr>
                        <a:t>ê_CV</a:t>
                      </a:r>
                    </a:p>
                  </a:txBody>
                  <a:tcPr marL="73152" marR="73152"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Arial"/>
                        </a:rPr>
                        <a:t>średnia błędów foldów; przy równych foldach = wszystkie pomyłki / n</a:t>
                      </a:r>
                    </a:p>
                  </a:txBody>
                  <a:tcPr marL="73152" marR="73152" marT="27432" marB="27432" anchor="ctr"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Arial"/>
                        </a:rPr>
                        <a:t>e_test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Arial"/>
                        </a:rPr>
                        <a:t>odsetek pomyłek modelu nauczonego na całym D, zmierzony na teście T (N = 10 000)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41248" y="4983480"/>
            <a:ext cx="10515600" cy="685800"/>
          </a:xfrm>
          <a:prstGeom prst="roundRect">
            <a:avLst>
              <a:gd name="adj" fmla="val 7000"/>
            </a:avLst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500176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 marL="0" indent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>
                <a:solidFill>
                  <a:srgbClr val="0B0B0B"/>
                </a:solidFill>
                <a:latin typeface="Arial"/>
              </a:rPr>
              <a:t>Foldy nie są niezależnymi pomiarami: </a:t>
            </a:r>
            <a:r>
              <a:rPr sz="1400" b="0" i="0">
                <a:solidFill>
                  <a:srgbClr val="0B0B0B"/>
                </a:solidFill>
                <a:latin typeface="Arial"/>
              </a:rPr>
              <a:t>zbiory uczące C_−1 i C_−2 mają wspólne (k−2)/(k−1) obiektów (k = 10: 8 z 9). Dlatego powtórzeniem badania jest cały niezależny zbiór D_r, a nie fold.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731520"/>
            <a:ext cx="10515600" cy="822960"/>
          </a:xfrm>
        </p:spPr>
        <p:txBody>
          <a:bodyPr anchor="ctr"/>
          <a:lstStyle/>
          <a:p>
            <a:pPr algn="ctr"/>
            <a:r>
              <a:rPr sz="2600" b="0">
                <a:solidFill>
                  <a:srgbClr val="0B0B0B"/>
                </a:solidFill>
                <a:latin typeface="Arial"/>
              </a:rPr>
              <a:t>Przykład ręczny: średnia błędów foldów (D₁, GaussianNB, k = 5)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41248" y="1691640"/>
          <a:ext cx="5852160" cy="268833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14400"/>
                <a:gridCol w="1645920"/>
                <a:gridCol w="1188720"/>
                <a:gridCol w="210312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Fold j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Obiektów w foldzie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Pomyłek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e_j = pomyłki / obiekty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7 / 40 = 0,175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73152" marR="73152"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3 / 40 = 0,075</a:t>
                      </a:r>
                    </a:p>
                  </a:txBody>
                  <a:tcPr marL="73152" marR="73152" marT="27432" marB="27432" anchor="ctr"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7 / 40 = 0,175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73152" marR="73152"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8 / 40 = 0,200</a:t>
                      </a:r>
                    </a:p>
                  </a:txBody>
                  <a:tcPr marL="73152" marR="73152" marT="27432" marB="27432" anchor="ctr"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Arial"/>
                        </a:rPr>
                        <a:t>4 / 40 = 0,100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Razem</a:t>
                      </a:r>
                    </a:p>
                  </a:txBody>
                  <a:tcPr marL="73152" marR="73152"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73152" marR="73152"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73152" marR="73152"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B0B0B"/>
                          </a:solidFill>
                          <a:latin typeface="Arial"/>
                        </a:rPr>
                        <a:t>29 / 200 = 0,145</a:t>
                      </a:r>
                    </a:p>
                  </a:txBody>
                  <a:tcPr marL="73152" marR="73152" marT="27432" marB="27432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967728" y="1691640"/>
            <a:ext cx="4389120" cy="2697480"/>
          </a:xfrm>
          <a:prstGeom prst="roundRect">
            <a:avLst>
              <a:gd name="adj" fmla="val 7000"/>
            </a:avLst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50608" y="1801368"/>
            <a:ext cx="4023360" cy="2560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0" indent="0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 b="1" i="0">
                <a:solidFill>
                  <a:srgbClr val="1F3A5F"/>
                </a:solidFill>
                <a:latin typeface="Arial"/>
              </a:rPr>
              <a:t>Rachunek</a:t>
            </a:r>
          </a:p>
          <a:p>
            <a:pPr algn="l" marL="0" indent="0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sz="1400" b="0" i="0">
                <a:solidFill>
                  <a:srgbClr val="0B0B0B"/>
                </a:solidFill>
                <a:latin typeface="Arial"/>
              </a:rPr>
              <a:t>ê_CV = (</a:t>
            </a:r>
            <a:r>
              <a:rPr sz="1400" b="0" i="0">
                <a:solidFill>
                  <a:srgbClr val="0B0B0B"/>
                </a:solidFill>
                <a:latin typeface="Arial"/>
              </a:rPr>
              <a:t>0,175 + 0,075 + 0,175 + 0,200 + 0,100</a:t>
            </a:r>
            <a:r>
              <a:rPr sz="1400" b="1" i="0">
                <a:solidFill>
                  <a:srgbClr val="0B0B0B"/>
                </a:solidFill>
                <a:latin typeface="Arial"/>
              </a:rPr>
              <a:t>) / 5 = 0,145</a:t>
            </a:r>
          </a:p>
          <a:p>
            <a:pPr algn="l" marL="0" indent="0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sz="1400" b="0" i="0">
                <a:solidFill>
                  <a:srgbClr val="0B0B0B"/>
                </a:solidFill>
                <a:latin typeface="Arial"/>
              </a:rPr>
              <a:t>e_test = </a:t>
            </a:r>
            <a:r>
              <a:rPr sz="1400" b="1" i="0">
                <a:solidFill>
                  <a:srgbClr val="0B0B0B"/>
                </a:solidFill>
                <a:latin typeface="Arial"/>
              </a:rPr>
              <a:t>0,1754</a:t>
            </a:r>
            <a:r>
              <a:rPr sz="1400" b="0" i="0">
                <a:solidFill>
                  <a:srgbClr val="0B0B0B"/>
                </a:solidFill>
                <a:latin typeface="Arial"/>
              </a:rPr>
              <a:t> — GaussianNB nauczony na całym D₁ (200 obiektów), sprawdzony na T (10 000 obiektów)</a:t>
            </a:r>
          </a:p>
          <a:p>
            <a:pPr algn="l" marL="0" indent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0" i="0">
                <a:solidFill>
                  <a:srgbClr val="0B0B0B"/>
                </a:solidFill>
                <a:latin typeface="Arial"/>
              </a:rPr>
              <a:t>ê_CV − e_test = </a:t>
            </a:r>
            <a:r>
              <a:rPr sz="1400" b="1" i="0">
                <a:solidFill>
                  <a:srgbClr val="0B0B0B"/>
                </a:solidFill>
                <a:latin typeface="Arial"/>
              </a:rPr>
              <a:t>−0,0304</a:t>
            </a:r>
            <a:r>
              <a:rPr sz="1400" b="0" i="0">
                <a:solidFill>
                  <a:srgbClr val="52514E"/>
                </a:solidFill>
                <a:latin typeface="Arial"/>
              </a:rPr>
              <a:t>  (tu: optymizm)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526280"/>
            <a:ext cx="10515600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19456" indent="-219456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50" b="0" i="0">
                <a:solidFill>
                  <a:srgbClr val="52514E"/>
                </a:solidFill>
                <a:latin typeface="Arial"/>
              </a:rPr>
              <a:t>Jedna różnica nic nie mówi — zależy od losowego D₁ i losowego podziału. Dopiero średnia i rozrzut 30 takich różnic (po jednej na zbiór D_r) dają obciążenie i zmienność.</a:t>
            </a:r>
          </a:p>
          <a:p>
            <a:pPr algn="l" marL="219456" indent="-219456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50" b="0" i="0">
                <a:solidFill>
                  <a:srgbClr val="52514E"/>
                </a:solidFill>
                <a:latin typeface="Arial"/>
              </a:rPr>
              <a:t>Liczby z próby uruchomienia (results/pilot, 2026-10-25). Błąd Bayesa generatora: 15,9 % — niżej zejść się nie 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731520"/>
            <a:ext cx="10515600" cy="822960"/>
          </a:xfrm>
        </p:spPr>
        <p:txBody>
          <a:bodyPr anchor="ctr"/>
          <a:lstStyle/>
          <a:p>
            <a:pPr algn="ctr"/>
            <a:r>
              <a:rPr sz="2600" b="0">
                <a:solidFill>
                  <a:srgbClr val="0B0B0B"/>
                </a:solidFill>
                <a:latin typeface="Arial"/>
              </a:rPr>
              <a:t>Generator danych, powtórzenia i ocena referencyjna</a:t>
            </a:r>
          </a:p>
        </p:txBody>
      </p:sp>
      <p:pic>
        <p:nvPicPr>
          <p:cNvPr id="3" name="Picture 2" descr="f_g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9968" y="1645920"/>
            <a:ext cx="8165206" cy="457200"/>
          </a:xfrm>
          <a:prstGeom prst="rect">
            <a:avLst/>
          </a:prstGeom>
        </p:spPr>
      </p:pic>
      <p:pic>
        <p:nvPicPr>
          <p:cNvPr id="4" name="Picture 3" descr="gener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2705" y="2148840"/>
            <a:ext cx="5961124" cy="2377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" y="4599432"/>
            <a:ext cx="10515600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19456" indent="-219456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  <a:buFont typeface="Arial"/>
              <a:buChar char="•"/>
            </a:pPr>
            <a:r>
              <a:rPr sz="1400" b="1" i="0">
                <a:solidFill>
                  <a:srgbClr val="0B0B0B"/>
                </a:solidFill>
                <a:latin typeface="Arial"/>
              </a:rPr>
              <a:t>Generator: </a:t>
            </a:r>
            <a:r>
              <a:rPr sz="1400" b="0" i="0">
                <a:solidFill>
                  <a:srgbClr val="0B0B0B"/>
                </a:solidFill>
                <a:latin typeface="Arial"/>
              </a:rPr>
              <a:t>dwie klasy normalne, 5 cech informacyjnych + 5 szumu; błąd Bayesa Φ(−δ/2) = 15,9 % (π₁ = 0,5), 7,0 % dla klasy rzadkiej (π₁ = 0,1).</a:t>
            </a:r>
          </a:p>
          <a:p>
            <a:pPr algn="l" marL="219456" indent="-219456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  <a:buFont typeface="Arial"/>
              <a:buChar char="•"/>
            </a:pPr>
            <a:r>
              <a:rPr sz="1400" b="1" i="0">
                <a:solidFill>
                  <a:srgbClr val="0B0B0B"/>
                </a:solidFill>
                <a:latin typeface="Arial"/>
              </a:rPr>
              <a:t>Powtórzenia: </a:t>
            </a:r>
            <a:r>
              <a:rPr sz="1400" b="0" i="0">
                <a:solidFill>
                  <a:srgbClr val="0B0B0B"/>
                </a:solidFill>
                <a:latin typeface="Arial"/>
              </a:rPr>
              <a:t>R = 30 niezależnych zbiorów D_r po n = 200 obiektów (ziarno 1000 + r).</a:t>
            </a:r>
          </a:p>
          <a:p>
            <a:pPr algn="l" marL="219456" indent="-219456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 b="1" i="0">
                <a:solidFill>
                  <a:srgbClr val="0B0B0B"/>
                </a:solidFill>
                <a:latin typeface="Arial"/>
              </a:rPr>
              <a:t>Ocena referencyjna: </a:t>
            </a:r>
            <a:r>
              <a:rPr sz="1400" b="0" i="0">
                <a:solidFill>
                  <a:srgbClr val="0B0B0B"/>
                </a:solidFill>
                <a:latin typeface="Arial"/>
              </a:rPr>
              <a:t>jeden zbiór testowy T, N = 10 000, osobne ziarno — służy tylko do oceny estymatora.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731520"/>
            <a:ext cx="10515600" cy="822960"/>
          </a:xfrm>
        </p:spPr>
        <p:txBody>
          <a:bodyPr anchor="ctr"/>
          <a:lstStyle/>
          <a:p>
            <a:pPr algn="ctr"/>
            <a:r>
              <a:rPr sz="3000" b="0">
                <a:solidFill>
                  <a:srgbClr val="0B0B0B"/>
                </a:solidFill>
                <a:latin typeface="Arial"/>
              </a:rPr>
              <a:t>Plan odtworzenia: estymata CV kontra duży test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691640"/>
            <a:ext cx="2011680" cy="777240"/>
          </a:xfrm>
          <a:prstGeom prst="roundRect">
            <a:avLst>
              <a:gd name="adj" fmla="val 7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0976" y="1746504"/>
            <a:ext cx="1792224" cy="6858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0" indent="0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300" b="1" i="0">
                <a:solidFill>
                  <a:srgbClr val="1F3A5F"/>
                </a:solidFill>
                <a:latin typeface="Arial"/>
              </a:rPr>
              <a:t>Generator</a:t>
            </a:r>
          </a:p>
          <a:p>
            <a:pPr algn="l" marL="0" indent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150" b="0" i="0">
                <a:solidFill>
                  <a:srgbClr val="52514E"/>
                </a:solidFill>
                <a:latin typeface="Arial"/>
              </a:rPr>
              <a:t>ziarno 1000 + r dla D_r; ziarno 90001 dla 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898648" y="1947672"/>
            <a:ext cx="320040" cy="274320"/>
          </a:xfrm>
          <a:prstGeom prst="rightArrow">
            <a:avLst/>
          </a:prstGeom>
          <a:solidFill>
            <a:srgbClr val="C3C2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264408" y="1691640"/>
            <a:ext cx="2103120" cy="777240"/>
          </a:xfrm>
          <a:prstGeom prst="roundRect">
            <a:avLst>
              <a:gd name="adj" fmla="val 7000"/>
            </a:avLst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74136" y="1746504"/>
            <a:ext cx="1883663" cy="6858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0" indent="0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300" b="1" i="0">
                <a:solidFill>
                  <a:srgbClr val="1F3A5F"/>
                </a:solidFill>
                <a:latin typeface="Arial"/>
              </a:rPr>
              <a:t>D_r, r = 1…30</a:t>
            </a:r>
          </a:p>
          <a:p>
            <a:pPr algn="l" marL="0" indent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150" b="0" i="0">
                <a:solidFill>
                  <a:srgbClr val="52514E"/>
                </a:solidFill>
                <a:latin typeface="Arial"/>
              </a:rPr>
              <a:t>n = 200 obiektów, klasy 50/50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413248" y="1947672"/>
            <a:ext cx="320040" cy="274320"/>
          </a:xfrm>
          <a:prstGeom prst="rightArrow">
            <a:avLst/>
          </a:prstGeom>
          <a:solidFill>
            <a:srgbClr val="C3C2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779008" y="1691640"/>
            <a:ext cx="2834640" cy="777240"/>
          </a:xfrm>
          <a:prstGeom prst="roundRect">
            <a:avLst>
              <a:gd name="adj" fmla="val 7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88736" y="1746504"/>
            <a:ext cx="2615184" cy="6858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0" indent="0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300" b="1" i="0">
                <a:solidFill>
                  <a:srgbClr val="1F3A5F"/>
                </a:solidFill>
                <a:latin typeface="Arial"/>
              </a:rPr>
              <a:t>CV, k ∈ {2, 5, 10}</a:t>
            </a:r>
          </a:p>
          <a:p>
            <a:pPr algn="l" marL="0" indent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150" b="0" i="0">
                <a:solidFill>
                  <a:srgbClr val="52514E"/>
                </a:solidFill>
                <a:latin typeface="Arial"/>
              </a:rPr>
              <a:t>KFold(shuffle, ziarno 2000 + r); te same podziały dla obu modeli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659368" y="1947672"/>
            <a:ext cx="320040" cy="274320"/>
          </a:xfrm>
          <a:prstGeom prst="rightArrow">
            <a:avLst/>
          </a:prstGeom>
          <a:solidFill>
            <a:srgbClr val="C3C2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025128" y="1691640"/>
            <a:ext cx="2331720" cy="777240"/>
          </a:xfrm>
          <a:prstGeom prst="roundRect">
            <a:avLst>
              <a:gd name="adj" fmla="val 7000"/>
            </a:avLst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34855" y="1746504"/>
            <a:ext cx="2112263" cy="6858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0" indent="0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300" b="1" i="0">
                <a:solidFill>
                  <a:srgbClr val="1F3A5F"/>
                </a:solidFill>
                <a:latin typeface="Arial"/>
              </a:rPr>
              <a:t>ê_CV,r,k</a:t>
            </a:r>
          </a:p>
          <a:p>
            <a:pPr algn="l" marL="0" indent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150" b="0" i="0">
                <a:solidFill>
                  <a:srgbClr val="52514E"/>
                </a:solidFill>
                <a:latin typeface="Arial"/>
              </a:rPr>
              <a:t>średnia błędów k foldów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4178808" y="2505456"/>
            <a:ext cx="274320" cy="420624"/>
          </a:xfrm>
          <a:prstGeom prst="downArrow">
            <a:avLst/>
          </a:prstGeom>
          <a:solidFill>
            <a:srgbClr val="C3C2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264408" y="2971800"/>
            <a:ext cx="2103120" cy="777240"/>
          </a:xfrm>
          <a:prstGeom prst="roundRect">
            <a:avLst>
              <a:gd name="adj" fmla="val 7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74136" y="3026664"/>
            <a:ext cx="1883663" cy="6858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0" indent="0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300" b="1" i="0">
                <a:solidFill>
                  <a:srgbClr val="1F3A5F"/>
                </a:solidFill>
                <a:latin typeface="Arial"/>
              </a:rPr>
              <a:t>Model na całym D_r</a:t>
            </a:r>
          </a:p>
          <a:p>
            <a:pPr algn="l" marL="0" indent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150" b="0" i="0">
                <a:solidFill>
                  <a:srgbClr val="52514E"/>
                </a:solidFill>
                <a:latin typeface="Arial"/>
              </a:rPr>
              <a:t>jedno dopasowanie, 200 obiektów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413248" y="3227832"/>
            <a:ext cx="320040" cy="274320"/>
          </a:xfrm>
          <a:prstGeom prst="rightArrow">
            <a:avLst/>
          </a:prstGeom>
          <a:solidFill>
            <a:srgbClr val="C3C2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779008" y="2971800"/>
            <a:ext cx="2834640" cy="777240"/>
          </a:xfrm>
          <a:prstGeom prst="roundRect">
            <a:avLst>
              <a:gd name="adj" fmla="val 7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88736" y="3026664"/>
            <a:ext cx="2615184" cy="6858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0" indent="0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300" b="1" i="0">
                <a:solidFill>
                  <a:srgbClr val="1F3A5F"/>
                </a:solidFill>
                <a:latin typeface="Arial"/>
              </a:rPr>
              <a:t>Test T</a:t>
            </a:r>
          </a:p>
          <a:p>
            <a:pPr algn="l" marL="0" indent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150" b="0" i="0">
                <a:solidFill>
                  <a:srgbClr val="52514E"/>
                </a:solidFill>
                <a:latin typeface="Arial"/>
              </a:rPr>
              <a:t>N = 10 000, ten sam generator; tylko do oceny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659368" y="3227832"/>
            <a:ext cx="320040" cy="274320"/>
          </a:xfrm>
          <a:prstGeom prst="rightArrow">
            <a:avLst/>
          </a:prstGeom>
          <a:solidFill>
            <a:srgbClr val="C3C2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25128" y="2971800"/>
            <a:ext cx="2331720" cy="777240"/>
          </a:xfrm>
          <a:prstGeom prst="roundRect">
            <a:avLst>
              <a:gd name="adj" fmla="val 7000"/>
            </a:avLst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34855" y="3026664"/>
            <a:ext cx="2112263" cy="6858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0" indent="0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300" b="1" i="0">
                <a:solidFill>
                  <a:srgbClr val="1F3A5F"/>
                </a:solidFill>
                <a:latin typeface="Arial"/>
              </a:rPr>
              <a:t>e_test,r</a:t>
            </a:r>
          </a:p>
          <a:p>
            <a:pPr algn="l" marL="0" indent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150" b="0" i="0">
                <a:solidFill>
                  <a:srgbClr val="52514E"/>
                </a:solidFill>
                <a:latin typeface="Arial"/>
              </a:rPr>
              <a:t>odsetek pomyłek na T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10076688" y="3794759"/>
            <a:ext cx="274320" cy="347472"/>
          </a:xfrm>
          <a:prstGeom prst="downArrow">
            <a:avLst/>
          </a:prstGeom>
          <a:solidFill>
            <a:srgbClr val="C3C2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1248" y="4187952"/>
            <a:ext cx="10515600" cy="731520"/>
          </a:xfrm>
          <a:prstGeom prst="roundRect">
            <a:avLst>
              <a:gd name="adj" fmla="val 7000"/>
            </a:avLst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" y="4206240"/>
            <a:ext cx="10149840" cy="6949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 marL="0" indent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>
                <a:solidFill>
                  <a:srgbClr val="0B0B0B"/>
                </a:solidFill>
                <a:latin typeface="Arial"/>
              </a:rPr>
              <a:t>Δ_r = ê_CV,r − e_test,r</a:t>
            </a:r>
            <a:r>
              <a:rPr sz="1400" b="0" i="0">
                <a:solidFill>
                  <a:srgbClr val="0B0B0B"/>
                </a:solidFill>
                <a:latin typeface="Arial"/>
              </a:rPr>
              <a:t>   →   dla każdego k i modelu 30 wartości Δ: średnia = obciążenie, odchylenie standardowe = zmienność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5029200"/>
            <a:ext cx="1051560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0" indent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>
                <a:solidFill>
                  <a:srgbClr val="52514E"/>
                </a:solidFill>
                <a:latin typeface="Arial"/>
              </a:rPr>
              <a:t>Modele: </a:t>
            </a:r>
            <a:r>
              <a:rPr sz="1400" b="0" i="0">
                <a:solidFill>
                  <a:srgbClr val="52514E"/>
                </a:solidFill>
                <a:latin typeface="Arial"/>
              </a:rPr>
              <a:t>GaussianNB() i CART = DecisionTreeClassifier(random_state=0), parametry domyślne scikit‑learn 1.8.0. </a:t>
            </a:r>
            <a:r>
              <a:rPr sz="1400" b="1" i="0">
                <a:solidFill>
                  <a:srgbClr val="52514E"/>
                </a:solidFill>
                <a:latin typeface="Arial"/>
              </a:rPr>
              <a:t>Metryka: </a:t>
            </a:r>
            <a:r>
              <a:rPr sz="1400" b="0" i="0">
                <a:solidFill>
                  <a:srgbClr val="52514E"/>
                </a:solidFill>
                <a:latin typeface="Arial"/>
              </a:rPr>
              <a:t>odsetek pomyłek. </a:t>
            </a:r>
            <a:r>
              <a:rPr sz="1400" b="0" i="0">
                <a:solidFill>
                  <a:srgbClr val="52514E"/>
                </a:solidFill>
                <a:latin typeface="Arial"/>
              </a:rPr>
              <a:t>Ziarna, rozmiary i k utrwalone w </a:t>
            </a:r>
            <a:r>
              <a:rPr sz="1400" b="1" i="0">
                <a:solidFill>
                  <a:srgbClr val="52514E"/>
                </a:solidFill>
                <a:latin typeface="Arial"/>
              </a:rPr>
              <a:t>cvbias/protocol.py</a:t>
            </a:r>
            <a:r>
              <a:rPr sz="1400" b="0" i="0">
                <a:solidFill>
                  <a:srgbClr val="52514E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731520"/>
            <a:ext cx="10515600" cy="822960"/>
          </a:xfrm>
        </p:spPr>
        <p:txBody>
          <a:bodyPr anchor="ctr"/>
          <a:lstStyle/>
          <a:p>
            <a:pPr algn="ctr"/>
            <a:r>
              <a:rPr sz="2600" b="0">
                <a:solidFill>
                  <a:srgbClr val="0B0B0B"/>
                </a:solidFill>
                <a:latin typeface="Arial"/>
              </a:rPr>
              <a:t>Eksperyment własny: stratyfikacja przy klasie rzadkiej (≈ 10 %)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691640"/>
            <a:ext cx="5120640" cy="3931920"/>
          </a:xfrm>
          <a:prstGeom prst="roundRect">
            <a:avLst>
              <a:gd name="adj" fmla="val 7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1828800"/>
            <a:ext cx="4754880" cy="374903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0" indent="0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 b="1" i="0">
                <a:solidFill>
                  <a:srgbClr val="1F3A5F"/>
                </a:solidFill>
                <a:latin typeface="Arial"/>
              </a:rPr>
              <a:t>Plan</a:t>
            </a:r>
          </a:p>
          <a:p>
            <a:pPr algn="l" marL="219456" indent="-219456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450" b="0" i="0">
                <a:solidFill>
                  <a:srgbClr val="0B0B0B"/>
                </a:solidFill>
                <a:latin typeface="Arial"/>
              </a:rPr>
              <a:t>Ten sam generator z π₁ = 0,1: ok. 20 obiektów klasy rzadkiej na 200; osobne 30 zbiorów D_r i osobny test T′ (N = 10 000).</a:t>
            </a:r>
          </a:p>
          <a:p>
            <a:pPr algn="l" marL="219456" indent="-219456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450" b="0" i="0">
                <a:solidFill>
                  <a:srgbClr val="0B0B0B"/>
                </a:solidFill>
                <a:latin typeface="Arial"/>
              </a:rPr>
              <a:t>Na tym samym D_r: KFold(5) i StratifiedKFold(5) z tym samym ziarnem — różni się tylko przydział obiektów do foldów.</a:t>
            </a:r>
          </a:p>
          <a:p>
            <a:pPr algn="l" marL="219456" indent="-219456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450" b="0" i="0">
                <a:solidFill>
                  <a:srgbClr val="0B0B0B"/>
                </a:solidFill>
                <a:latin typeface="Arial"/>
              </a:rPr>
              <a:t>Miary: odsetek pomyłek, czułość klasy rzadkiej, liczba foldów bez klasy rzadkiej.</a:t>
            </a:r>
          </a:p>
          <a:p>
            <a:pPr algn="l" marL="219456" indent="-219456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50" b="1" i="0">
                <a:solidFill>
                  <a:srgbClr val="0B0B0B"/>
                </a:solidFill>
                <a:latin typeface="Arial"/>
              </a:rPr>
              <a:t>Fold bez klasy rzadkiej → czułość nieokreślona: zapisujemy jako brak wyniku z powodem.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36208" y="1691640"/>
            <a:ext cx="51206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0" indent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300" b="0" i="0">
                <a:solidFill>
                  <a:srgbClr val="52514E"/>
                </a:solidFill>
                <a:latin typeface="Arial"/>
              </a:rPr>
              <a:t>Próba uruchomienia, D₁ (24 obiektów klasy rzadkiej na 200), foldy po 40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36208" y="2194560"/>
          <a:ext cx="5120640" cy="21945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731520"/>
                <a:gridCol w="2194560"/>
                <a:gridCol w="219456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Fold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KFold: klasa rzadka w foldzie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Stratified: klasa rzadka w foldzie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36208" y="4480560"/>
            <a:ext cx="5120640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19456" indent="-219456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350" b="0" i="0">
                <a:solidFill>
                  <a:srgbClr val="52514E"/>
                </a:solidFill>
                <a:latin typeface="Arial"/>
              </a:rPr>
              <a:t>Już w 3 zbiorach próby: zwykły KFold dał fold bez klasy rzadkiej (2 raz), stratyfikowany — 0 razy.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731520"/>
            <a:ext cx="10515600" cy="822960"/>
          </a:xfrm>
        </p:spPr>
        <p:txBody>
          <a:bodyPr anchor="ctr"/>
          <a:lstStyle/>
          <a:p>
            <a:pPr algn="ctr"/>
            <a:r>
              <a:rPr sz="2600" b="0">
                <a:solidFill>
                  <a:srgbClr val="0B0B0B"/>
                </a:solidFill>
                <a:latin typeface="Arial"/>
              </a:rPr>
              <a:t>Wykonalność: próba uruchomienia i kontrola poprawności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691640"/>
            <a:ext cx="3383280" cy="1280160"/>
          </a:xfrm>
          <a:prstGeom prst="roundRect">
            <a:avLst>
              <a:gd name="adj" fmla="val 7000"/>
            </a:avLst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1764792"/>
            <a:ext cx="310896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 marL="0" indent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3200" b="1" i="0">
                <a:solidFill>
                  <a:srgbClr val="1F3A5F"/>
                </a:solidFill>
                <a:latin typeface="Arial"/>
              </a:rPr>
              <a:t>174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2404872"/>
            <a:ext cx="310896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52514E"/>
                </a:solidFill>
                <a:latin typeface="Arial"/>
              </a:rPr>
              <a:t>dopasowań w próbie</a:t>
            </a:r>
          </a:p>
          <a:p>
            <a:pPr algn="ctr"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98781"/>
                </a:solidFill>
                <a:latin typeface="Arial"/>
              </a:rPr>
              <a:t>3 zbiory, oba eksperymenty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8" y="1691640"/>
            <a:ext cx="3383280" cy="1280160"/>
          </a:xfrm>
          <a:prstGeom prst="roundRect">
            <a:avLst>
              <a:gd name="adj" fmla="val 7000"/>
            </a:avLst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44568" y="1764792"/>
            <a:ext cx="310896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 marL="0" indent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3200" b="1" i="0">
                <a:solidFill>
                  <a:srgbClr val="1F3A5F"/>
                </a:solidFill>
                <a:latin typeface="Arial"/>
              </a:rPr>
              <a:t>0,16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44568" y="2404872"/>
            <a:ext cx="310896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52514E"/>
                </a:solidFill>
                <a:latin typeface="Arial"/>
              </a:rPr>
              <a:t>czas próby na CPU</a:t>
            </a:r>
          </a:p>
          <a:p>
            <a:pPr algn="ctr"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98781"/>
                </a:solidFill>
                <a:latin typeface="Arial"/>
              </a:rPr>
              <a:t>zwykły laptop, bez GPU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73568" y="1691640"/>
            <a:ext cx="3383280" cy="1280160"/>
          </a:xfrm>
          <a:prstGeom prst="roundRect">
            <a:avLst>
              <a:gd name="adj" fmla="val 7000"/>
            </a:avLst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10728" y="1764792"/>
            <a:ext cx="310896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 marL="0" indent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3200" b="1" i="0">
                <a:solidFill>
                  <a:srgbClr val="1F3A5F"/>
                </a:solidFill>
                <a:latin typeface="Arial"/>
              </a:rPr>
              <a:t>1920 / 2500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10728" y="2404872"/>
            <a:ext cx="310896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52514E"/>
                </a:solidFill>
                <a:latin typeface="Arial"/>
              </a:rPr>
              <a:t>dopasowań w pełnej serii</a:t>
            </a:r>
          </a:p>
          <a:p>
            <a:pPr algn="ctr"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98781"/>
                </a:solidFill>
                <a:latin typeface="Arial"/>
              </a:rPr>
              <a:t>budżet z karty tematu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154680"/>
            <a:ext cx="5120640" cy="2468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0" indent="0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500" b="1" i="0">
                <a:solidFill>
                  <a:srgbClr val="1F3A5F"/>
                </a:solidFill>
                <a:latin typeface="Arial"/>
              </a:rPr>
              <a:t>Środowisko i uruchomienie</a:t>
            </a:r>
          </a:p>
          <a:p>
            <a:pPr algn="l" marL="219456" indent="-219456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0B0B0B"/>
                </a:solidFill>
                <a:latin typeface="Arial"/>
              </a:rPr>
              <a:t>Python 3.14.8, numpy 2.4.4, scikit‑learn 1.8.0</a:t>
            </a:r>
          </a:p>
          <a:p>
            <a:pPr algn="l" marL="219456" indent="-219456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  <a:buFont typeface="Arial"/>
              <a:buChar char="•"/>
            </a:pPr>
            <a:r>
              <a:rPr sz="1300" b="0" i="0">
                <a:solidFill>
                  <a:srgbClr val="52514E"/>
                </a:solidFill>
                <a:latin typeface="Arial"/>
              </a:rPr>
              <a:t>python run_experiment.py --reps 3 --out results/pilot</a:t>
            </a:r>
          </a:p>
          <a:p>
            <a:pPr algn="l" marL="219456" indent="-219456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0B0B0B"/>
                </a:solidFill>
                <a:latin typeface="Arial"/>
              </a:rPr>
              <a:t>Zapisujemy: błąd i skład klas każdego foldu (CSV), podsumowania, meta.json z wersjami, ziarnami i liczbą dopasowań</a:t>
            </a:r>
          </a:p>
          <a:p>
            <a:pPr algn="l" marL="219456" indent="-219456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rgbClr val="0B0B0B"/>
                </a:solidFill>
                <a:latin typeface="Arial"/>
              </a:rPr>
              <a:t>Kod i wyniki: github.com/FylyppS/rozpoznawanie-wzorcow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8" y="3154680"/>
            <a:ext cx="5120640" cy="2468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0" indent="0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500" b="1" i="0">
                <a:solidFill>
                  <a:srgbClr val="1F3A5F"/>
                </a:solidFill>
                <a:latin typeface="Arial"/>
              </a:rPr>
              <a:t>Kontrola poprawności</a:t>
            </a:r>
          </a:p>
          <a:p>
            <a:pPr algn="l" marL="219456" indent="-219456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0B0B0B"/>
                </a:solidFill>
                <a:latin typeface="Arial"/>
              </a:rPr>
              <a:t>Duży test tylko do oceny estymatora — nie dobieramy według niego parametrów modeli ani generatora</a:t>
            </a:r>
          </a:p>
          <a:p>
            <a:pPr algn="l" marL="219456" indent="-219456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0B0B0B"/>
                </a:solidFill>
                <a:latin typeface="Arial"/>
              </a:rPr>
              <a:t>Te same zbiory D_r i te same podziały dla wszystkich wariantów CV i obu modeli</a:t>
            </a:r>
          </a:p>
          <a:p>
            <a:pPr algn="l" marL="219456" indent="-219456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0B0B0B"/>
                </a:solidFill>
                <a:latin typeface="Arial"/>
              </a:rPr>
              <a:t>Ziarna, rozmiary, k, metryki utrwalone przed badaniem (cvbias/protocol.py)</a:t>
            </a:r>
          </a:p>
          <a:p>
            <a:pPr algn="l" marL="219456" indent="-219456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rgbClr val="0B0B0B"/>
                </a:solidFill>
                <a:latin typeface="Arial"/>
              </a:rPr>
              <a:t>Brak przecieku: model w foldzie widzi tylko D ∖ D_j; T ma osobne ziarno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731520"/>
            <a:ext cx="10515600" cy="822960"/>
          </a:xfrm>
        </p:spPr>
        <p:txBody>
          <a:bodyPr anchor="ctr"/>
          <a:lstStyle/>
          <a:p>
            <a:pPr algn="ctr"/>
            <a:r>
              <a:rPr sz="3000" b="0">
                <a:solidFill>
                  <a:srgbClr val="0B0B0B"/>
                </a:solidFill>
                <a:latin typeface="Arial"/>
              </a:rPr>
              <a:t>Ograniczenia planu, źródła i informacja o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691640"/>
            <a:ext cx="5120640" cy="3931920"/>
          </a:xfrm>
          <a:prstGeom prst="roundRect">
            <a:avLst>
              <a:gd name="adj" fmla="val 7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1828800"/>
            <a:ext cx="4754880" cy="374903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0" indent="0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600" b="1" i="0">
                <a:solidFill>
                  <a:srgbClr val="1F3A5F"/>
                </a:solidFill>
                <a:latin typeface="Arial"/>
              </a:rPr>
              <a:t>Ograniczenia</a:t>
            </a:r>
          </a:p>
          <a:p>
            <a:pPr algn="l" marL="219456" indent="-219456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0B0B0B"/>
                </a:solidFill>
                <a:latin typeface="Arial"/>
              </a:rPr>
              <a:t>Dane syntetyczne o rozkładzie zgodnym z założeniami GaussianNB — wyniki dla NB mogą być „zbyt ładne”.</a:t>
            </a:r>
          </a:p>
          <a:p>
            <a:pPr algn="l" marL="219456" indent="-219456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0B0B0B"/>
                </a:solidFill>
                <a:latin typeface="Arial"/>
              </a:rPr>
              <a:t>Jeden wspólny test T dla wszystkich powtórzeń (słaba korelacja e_test,r; mała przy N = 10 000).</a:t>
            </a:r>
          </a:p>
          <a:p>
            <a:pPr algn="l" marL="219456" indent="-219456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0B0B0B"/>
                </a:solidFill>
                <a:latin typeface="Arial"/>
              </a:rPr>
              <a:t>R = 30 → błąd standardowy obciążenia ≈ sd/√30 (≈ 0,5 p.p.); małe efekty mogą być nieodróżnialne od zera.</a:t>
            </a:r>
          </a:p>
          <a:p>
            <a:pPr algn="l" marL="219456" indent="-219456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rgbClr val="0B0B0B"/>
                </a:solidFill>
                <a:latin typeface="Arial"/>
              </a:rPr>
              <a:t>U Kohaviego „prawdziwa” trafność z holdoutu i próbki z jednego zbioru też nie są bez wad — nasz test z generatora jest czystszy.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36208" y="1691640"/>
            <a:ext cx="5120640" cy="3931920"/>
          </a:xfrm>
          <a:prstGeom prst="roundRect">
            <a:avLst>
              <a:gd name="adj" fmla="val 7000"/>
            </a:avLst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19088" y="1828800"/>
            <a:ext cx="4754880" cy="374903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0" indent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600" b="1" i="0">
                <a:solidFill>
                  <a:srgbClr val="1F3A5F"/>
                </a:solidFill>
                <a:latin typeface="Arial"/>
              </a:rPr>
              <a:t>Źródła</a:t>
            </a:r>
          </a:p>
          <a:p>
            <a:pPr algn="l" marL="219456" indent="-219456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  <a:buFont typeface="Arial"/>
              <a:buChar char="•"/>
            </a:pPr>
            <a:r>
              <a:rPr sz="1300" b="0" i="0">
                <a:solidFill>
                  <a:srgbClr val="0B0B0B"/>
                </a:solidFill>
                <a:latin typeface="Arial"/>
              </a:rPr>
              <a:t>R. Kohavi, A Study of Cross-Validation and Bootstrap for Accuracy Estimation and Model Selection, IJCAI 1995 — ai.stanford.edu/~ronnyk/accEst.pdf</a:t>
            </a:r>
          </a:p>
          <a:p>
            <a:pPr algn="l" marL="219456" indent="-219456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  <a:buFont typeface="Arial"/>
              <a:buChar char="•"/>
            </a:pPr>
            <a:r>
              <a:rPr sz="1300" b="0" i="0">
                <a:solidFill>
                  <a:srgbClr val="0B0B0B"/>
                </a:solidFill>
                <a:latin typeface="Arial"/>
              </a:rPr>
              <a:t>scikit-learn 1.8.0: KFold, StratifiedKFold, GaussianNB, DecisionTreeClassifier</a:t>
            </a:r>
          </a:p>
          <a:p>
            <a:pPr algn="l" marL="219456" indent="-219456"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  <a:buFont typeface="Arial"/>
              <a:buChar char="•"/>
            </a:pPr>
            <a:r>
              <a:rPr sz="1300" b="0" i="0">
                <a:solidFill>
                  <a:srgbClr val="0B0B0B"/>
                </a:solidFill>
                <a:latin typeface="Arial"/>
              </a:rPr>
              <a:t>Karta tematu 06 i kontrakt przedmiotu (Moodle PO)</a:t>
            </a:r>
          </a:p>
          <a:p>
            <a:pPr algn="l" marL="0" indent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600" b="1" i="0">
                <a:solidFill>
                  <a:srgbClr val="1F3A5F"/>
                </a:solidFill>
                <a:latin typeface="Arial"/>
              </a:rPr>
              <a:t>Informacja o AI (załącznik 2A, wariant 1)</a:t>
            </a:r>
          </a:p>
          <a:p>
            <a:pPr algn="l" marL="0" indent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300" b="0" i="0">
                <a:solidFill>
                  <a:srgbClr val="52514E"/>
                </a:solidFill>
                <a:latin typeface="Arial"/>
              </a:rPr>
              <a:t>Poziom 2 — AI jako wsparcie pracy. Narzędzie: Claude (Anthropic) w Claude Code — pomoc w analizie publikacji, szkic protokołu i kodu, redakcja slajdów. Kod uruchomiony i sprawdzony przez nas; liczby pochodzą z faktycznych obliczeń. Pełna informacja w załączonym PDF.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731520"/>
            <a:ext cx="10515600" cy="822960"/>
          </a:xfrm>
        </p:spPr>
        <p:txBody>
          <a:bodyPr anchor="ctr"/>
          <a:lstStyle/>
          <a:p>
            <a:pPr algn="ctr"/>
            <a:r>
              <a:rPr sz="3000" b="0">
                <a:solidFill>
                  <a:srgbClr val="0B0B0B"/>
                </a:solidFill>
                <a:latin typeface="Arial"/>
              </a:rPr>
              <a:t>Slajd zapasowy: pytania kontrolne z karty tematu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691640"/>
            <a:ext cx="10515600" cy="1234440"/>
          </a:xfrm>
          <a:prstGeom prst="roundRect">
            <a:avLst>
              <a:gd name="adj" fmla="val 7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1764792"/>
            <a:ext cx="10149840" cy="11430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0" indent="0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 i="0">
                <a:solidFill>
                  <a:srgbClr val="1F3A5F"/>
                </a:solidFill>
                <a:latin typeface="Arial"/>
              </a:rPr>
              <a:t>Dlaczego dziesięć foldów nie daje dziesięciu niezależnych pomiarów?</a:t>
            </a:r>
          </a:p>
          <a:p>
            <a:pPr algn="l" marL="0" indent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350" b="0" i="0">
                <a:solidFill>
                  <a:srgbClr val="52514E"/>
                </a:solidFill>
                <a:latin typeface="Arial"/>
              </a:rPr>
              <a:t>Zbiory uczące kolejnych foldów pokrywają się w 8/9; każdy obiekt współtworzy 9 z 10 modeli, więc błędy foldów są skorelowane. Niezależne są dopiero powtórzenia na osobnych zbiorach D_r.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3063240"/>
            <a:ext cx="10515600" cy="1234440"/>
          </a:xfrm>
          <a:prstGeom prst="roundRect">
            <a:avLst>
              <a:gd name="adj" fmla="val 7000"/>
            </a:avLst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3136392"/>
            <a:ext cx="10149840" cy="11430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0" indent="0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 i="0">
                <a:solidFill>
                  <a:srgbClr val="1F3A5F"/>
                </a:solidFill>
                <a:latin typeface="Arial"/>
              </a:rPr>
              <a:t>Czy niższa wariancja oznacza mniejsze obciążenie?</a:t>
            </a:r>
          </a:p>
          <a:p>
            <a:pPr algn="l" marL="0" indent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350" b="0" i="0">
                <a:solidFill>
                  <a:srgbClr val="52514E"/>
                </a:solidFill>
                <a:latin typeface="Arial"/>
              </a:rPr>
              <a:t>Nie. To osobne składowe błędu estymatora (MSE = obciążenie² + wariancja). Bootstrap .632 u Kohaviego: niska wariancja, obciążenie do 9,8 p.p.; leave-one-out: prawie nieobciążone, wysoka wariancja.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4434840"/>
            <a:ext cx="10515600" cy="1234440"/>
          </a:xfrm>
          <a:prstGeom prst="roundRect">
            <a:avLst>
              <a:gd name="adj" fmla="val 7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507992"/>
            <a:ext cx="10149840" cy="11430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0" indent="0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 i="0">
                <a:solidFill>
                  <a:srgbClr val="1F3A5F"/>
                </a:solidFill>
                <a:latin typeface="Arial"/>
              </a:rPr>
              <a:t>Czego nie wolno wybierać według dużego testu?</a:t>
            </a:r>
          </a:p>
          <a:p>
            <a:pPr algn="l" marL="0" indent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350" b="0" i="0">
                <a:solidFill>
                  <a:srgbClr val="52514E"/>
                </a:solidFill>
                <a:latin typeface="Arial"/>
              </a:rPr>
              <a:t>Parametrów modeli, parametrów generatora ani wariantu CV. Duży test ocenia estymator; każdy wybór „pod” T zamieniłby ocenę referencyjną w zbiór walidacyjny i zaniżył mierzony błąd.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718</TotalTime>
  <Words>976</Words>
  <Application>Microsoft Office PowerPoint</Application>
  <PresentationFormat>Panoramiczny</PresentationFormat>
  <Paragraphs>201</Paragraphs>
  <Slides>15</Slides>
  <Notes>15</Notes>
  <HiddenSlides>0</HiddenSlides>
  <MMClips>3</MMClips>
  <ScaleCrop>false</ScaleCrop>
  <HeadingPairs>
    <vt:vector size="6" baseType="variant">
      <vt:variant>
        <vt:lpstr>Używane czcionki</vt:lpstr>
      </vt:variant>
      <vt:variant>
        <vt:i4>7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15</vt:i4>
      </vt:variant>
    </vt:vector>
  </HeadingPairs>
  <TitlesOfParts>
    <vt:vector size="23" baseType="lpstr">
      <vt:lpstr>Aptos</vt:lpstr>
      <vt:lpstr>Arial</vt:lpstr>
      <vt:lpstr>Calibri</vt:lpstr>
      <vt:lpstr>Calibri Light</vt:lpstr>
      <vt:lpstr>Helvetica</vt:lpstr>
      <vt:lpstr>Times New Roman</vt:lpstr>
      <vt:lpstr>Wingdings</vt:lpstr>
      <vt:lpstr>Motyw pakietu Office</vt:lpstr>
      <vt:lpstr>Prezentacja programu PowerPoint</vt:lpstr>
      <vt:lpstr>Spis treści</vt:lpstr>
      <vt:lpstr>Cel i zakres pracy</vt:lpstr>
      <vt:lpstr>Część treningowa</vt:lpstr>
      <vt:lpstr>Zestawy danych</vt:lpstr>
      <vt:lpstr>FNC-1 (Fake News Challenge)</vt:lpstr>
      <vt:lpstr>Prezentacja programu PowerPoint</vt:lpstr>
      <vt:lpstr>Prezentacja programu PowerPoint</vt:lpstr>
      <vt:lpstr>Modele</vt:lpstr>
      <vt:lpstr>Uruchomienie programu trenującego</vt:lpstr>
      <vt:lpstr>Proces uczenia </vt:lpstr>
      <vt:lpstr>Prezentacja programu PowerPoint</vt:lpstr>
      <vt:lpstr>Architektura systemu</vt:lpstr>
      <vt:lpstr>Demonstracja działania</vt:lpstr>
      <vt:lpstr>Wyniki i możliwości rozwoju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Prezentacja programu PowerPoint</dc:title>
  <dc:creator>Maria Nolepa</dc:creator>
  <cp:lastModifiedBy>Filip Sejud</cp:lastModifiedBy>
  <cp:revision>30</cp:revision>
  <dcterms:created xsi:type="dcterms:W3CDTF">2025-06-12T06:17:54Z</dcterms:created>
  <dcterms:modified xsi:type="dcterms:W3CDTF">2026-01-16T14:02:33Z</dcterms:modified>
</cp:coreProperties>
</file>